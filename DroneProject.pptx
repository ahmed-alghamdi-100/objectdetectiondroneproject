
<file path=[Content_Types].xml><?xml version="1.0" encoding="utf-8"?>
<Types xmlns="http://schemas.openxmlformats.org/package/2006/content-types">
  <Default Extension="fntdata" ContentType="application/x-fontdata"/>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8288000" cy="10287000"/>
  <p:notesSz cx="6858000" cy="9144000"/>
  <p:embeddedFontLst>
    <p:embeddedFont>
      <p:font typeface="Open Sans 1" panose="020B0604020202020204" charset="0"/>
      <p:regular r:id="rId16"/>
    </p:embeddedFont>
    <p:embeddedFont>
      <p:font typeface="Open Sans 1 Bold" panose="020B0604020202020204" charset="0"/>
      <p:regular r:id="rId17"/>
    </p:embeddedFont>
    <p:embeddedFont>
      <p:font typeface="Open Sans 2" panose="020B0604020202020204" charset="0"/>
      <p:regular r:id="rId18"/>
    </p:embeddedFont>
    <p:embeddedFont>
      <p:font typeface="Open Sans 2 Bold" panose="020B0604020202020204" charset="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61" d="100"/>
          <a:sy n="61" d="100"/>
        </p:scale>
        <p:origin x="322"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6/27/2025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6/27/2025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1.svg"/><Relationship Id="rId7" Type="http://schemas.openxmlformats.org/officeDocument/2006/relationships/image" Target="../media/image14.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13.svg"/><Relationship Id="rId4" Type="http://schemas.openxmlformats.org/officeDocument/2006/relationships/image" Target="../media/image12.png"/></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1.svg"/><Relationship Id="rId7" Type="http://schemas.openxmlformats.org/officeDocument/2006/relationships/image" Target="../media/image14.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13.svg"/><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8" Type="http://schemas.openxmlformats.org/officeDocument/2006/relationships/image" Target="../media/image15.jpeg"/><Relationship Id="rId3" Type="http://schemas.openxmlformats.org/officeDocument/2006/relationships/image" Target="../media/image11.svg"/><Relationship Id="rId7" Type="http://schemas.openxmlformats.org/officeDocument/2006/relationships/image" Target="../media/image14.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13.svg"/><Relationship Id="rId4" Type="http://schemas.openxmlformats.org/officeDocument/2006/relationships/image" Target="../media/image12.png"/><Relationship Id="rId9" Type="http://schemas.openxmlformats.org/officeDocument/2006/relationships/image" Target="../media/image9.png"/></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1.svg"/><Relationship Id="rId7" Type="http://schemas.openxmlformats.org/officeDocument/2006/relationships/image" Target="../media/image14.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13.sv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8" Type="http://schemas.openxmlformats.org/officeDocument/2006/relationships/image" Target="../media/image16.jpeg"/><Relationship Id="rId3" Type="http://schemas.openxmlformats.org/officeDocument/2006/relationships/image" Target="../media/image11.svg"/><Relationship Id="rId7" Type="http://schemas.openxmlformats.org/officeDocument/2006/relationships/image" Target="../media/image14.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13.svg"/><Relationship Id="rId4" Type="http://schemas.openxmlformats.org/officeDocument/2006/relationships/image" Target="../media/image12.png"/><Relationship Id="rId9"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7.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slideLayout" Target="../slideLayouts/slideLayout7.xml"/><Relationship Id="rId7" Type="http://schemas.openxmlformats.org/officeDocument/2006/relationships/image" Target="../media/image13.sv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12.png"/><Relationship Id="rId11" Type="http://schemas.openxmlformats.org/officeDocument/2006/relationships/image" Target="../media/image9.png"/><Relationship Id="rId5" Type="http://schemas.openxmlformats.org/officeDocument/2006/relationships/image" Target="../media/image11.svg"/><Relationship Id="rId10" Type="http://schemas.openxmlformats.org/officeDocument/2006/relationships/image" Target="../media/image19.jpeg"/><Relationship Id="rId4" Type="http://schemas.openxmlformats.org/officeDocument/2006/relationships/image" Target="../media/image10.png"/><Relationship Id="rId9" Type="http://schemas.openxmlformats.org/officeDocument/2006/relationships/image" Target="../media/image14.png"/></Relationships>
</file>

<file path=ppt/slides/_rels/slide9.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1.svg"/><Relationship Id="rId7" Type="http://schemas.openxmlformats.org/officeDocument/2006/relationships/image" Target="../media/image14.png"/><Relationship Id="rId12" Type="http://schemas.openxmlformats.org/officeDocument/2006/relationships/image" Target="../media/image23.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7.png"/><Relationship Id="rId11" Type="http://schemas.openxmlformats.org/officeDocument/2006/relationships/image" Target="../media/image22.png"/><Relationship Id="rId5" Type="http://schemas.openxmlformats.org/officeDocument/2006/relationships/image" Target="../media/image13.svg"/><Relationship Id="rId10" Type="http://schemas.openxmlformats.org/officeDocument/2006/relationships/image" Target="../media/image21.png"/><Relationship Id="rId4" Type="http://schemas.openxmlformats.org/officeDocument/2006/relationships/image" Target="../media/image12.png"/><Relationship Id="rId9" Type="http://schemas.openxmlformats.org/officeDocument/2006/relationships/image" Target="../media/image20.png"/></Relationships>
</file>

<file path=ppt/slides/_rels/slide10.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1.svg"/><Relationship Id="rId7" Type="http://schemas.openxmlformats.org/officeDocument/2006/relationships/image" Target="../media/image14.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13.sv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1.svg"/><Relationship Id="rId7" Type="http://schemas.openxmlformats.org/officeDocument/2006/relationships/image" Target="../media/image14.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13.sv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4.png"/><Relationship Id="rId7" Type="http://schemas.openxmlformats.org/officeDocument/2006/relationships/image" Target="../media/image13.sv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sv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1.svg"/><Relationship Id="rId7" Type="http://schemas.openxmlformats.org/officeDocument/2006/relationships/image" Target="../media/image13.sv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7.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6172200"/>
            <a:ext cx="3186913" cy="4114800"/>
          </a:xfrm>
          <a:custGeom>
            <a:avLst/>
            <a:gdLst/>
            <a:ahLst/>
            <a:cxnLst/>
            <a:rect l="l" t="t" r="r" b="b"/>
            <a:pathLst>
              <a:path w="3186913" h="4114800">
                <a:moveTo>
                  <a:pt x="3186913" y="0"/>
                </a:moveTo>
                <a:lnTo>
                  <a:pt x="0" y="0"/>
                </a:lnTo>
                <a:lnTo>
                  <a:pt x="0" y="4114800"/>
                </a:lnTo>
                <a:lnTo>
                  <a:pt x="3186913" y="4114800"/>
                </a:lnTo>
                <a:lnTo>
                  <a:pt x="3186913"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15101087" y="6172200"/>
            <a:ext cx="3186913" cy="4114800"/>
          </a:xfrm>
          <a:custGeom>
            <a:avLst/>
            <a:gdLst/>
            <a:ahLst/>
            <a:cxnLst/>
            <a:rect l="l" t="t" r="r" b="b"/>
            <a:pathLst>
              <a:path w="3186913" h="4114800">
                <a:moveTo>
                  <a:pt x="0" y="0"/>
                </a:moveTo>
                <a:lnTo>
                  <a:pt x="3186913" y="0"/>
                </a:lnTo>
                <a:lnTo>
                  <a:pt x="3186913"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flipV="1">
            <a:off x="0" y="0"/>
            <a:ext cx="4114800" cy="4114800"/>
          </a:xfrm>
          <a:custGeom>
            <a:avLst/>
            <a:gdLst/>
            <a:ahLst/>
            <a:cxnLst/>
            <a:rect l="l" t="t" r="r" b="b"/>
            <a:pathLst>
              <a:path w="4114800" h="4114800">
                <a:moveTo>
                  <a:pt x="0" y="4114800"/>
                </a:moveTo>
                <a:lnTo>
                  <a:pt x="4114800" y="4114800"/>
                </a:lnTo>
                <a:lnTo>
                  <a:pt x="4114800" y="0"/>
                </a:lnTo>
                <a:lnTo>
                  <a:pt x="0" y="0"/>
                </a:lnTo>
                <a:lnTo>
                  <a:pt x="0" y="411480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5" name="Freeform 5"/>
          <p:cNvSpPr/>
          <p:nvPr/>
        </p:nvSpPr>
        <p:spPr>
          <a:xfrm flipH="1" flipV="1">
            <a:off x="14297484" y="-258036"/>
            <a:ext cx="4114800" cy="4114800"/>
          </a:xfrm>
          <a:custGeom>
            <a:avLst/>
            <a:gdLst/>
            <a:ahLst/>
            <a:cxnLst/>
            <a:rect l="l" t="t" r="r" b="b"/>
            <a:pathLst>
              <a:path w="4114800" h="4114800">
                <a:moveTo>
                  <a:pt x="4114800" y="4114800"/>
                </a:moveTo>
                <a:lnTo>
                  <a:pt x="0" y="4114800"/>
                </a:lnTo>
                <a:lnTo>
                  <a:pt x="0" y="0"/>
                </a:lnTo>
                <a:lnTo>
                  <a:pt x="4114800" y="0"/>
                </a:lnTo>
                <a:lnTo>
                  <a:pt x="4114800" y="411480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6" name="Freeform 6"/>
          <p:cNvSpPr/>
          <p:nvPr/>
        </p:nvSpPr>
        <p:spPr>
          <a:xfrm>
            <a:off x="11817066" y="67892"/>
            <a:ext cx="3435480" cy="1481551"/>
          </a:xfrm>
          <a:custGeom>
            <a:avLst/>
            <a:gdLst/>
            <a:ahLst/>
            <a:cxnLst/>
            <a:rect l="l" t="t" r="r" b="b"/>
            <a:pathLst>
              <a:path w="3435480" h="1481551">
                <a:moveTo>
                  <a:pt x="0" y="0"/>
                </a:moveTo>
                <a:lnTo>
                  <a:pt x="3435480" y="0"/>
                </a:lnTo>
                <a:lnTo>
                  <a:pt x="3435480" y="1481550"/>
                </a:lnTo>
                <a:lnTo>
                  <a:pt x="0" y="1481550"/>
                </a:lnTo>
                <a:lnTo>
                  <a:pt x="0" y="0"/>
                </a:lnTo>
                <a:close/>
              </a:path>
            </a:pathLst>
          </a:custGeom>
          <a:blipFill>
            <a:blip r:embed="rId8"/>
            <a:stretch>
              <a:fillRect/>
            </a:stretch>
          </a:blipFill>
        </p:spPr>
        <p:txBody>
          <a:bodyPr/>
          <a:lstStyle/>
          <a:p>
            <a:endParaRPr lang="en-US"/>
          </a:p>
        </p:txBody>
      </p:sp>
      <p:sp>
        <p:nvSpPr>
          <p:cNvPr id="7" name="Freeform 7"/>
          <p:cNvSpPr/>
          <p:nvPr/>
        </p:nvSpPr>
        <p:spPr>
          <a:xfrm>
            <a:off x="4114800" y="157570"/>
            <a:ext cx="3362010" cy="1391872"/>
          </a:xfrm>
          <a:custGeom>
            <a:avLst/>
            <a:gdLst/>
            <a:ahLst/>
            <a:cxnLst/>
            <a:rect l="l" t="t" r="r" b="b"/>
            <a:pathLst>
              <a:path w="3362010" h="1391872">
                <a:moveTo>
                  <a:pt x="0" y="0"/>
                </a:moveTo>
                <a:lnTo>
                  <a:pt x="3362010" y="0"/>
                </a:lnTo>
                <a:lnTo>
                  <a:pt x="3362010" y="1391872"/>
                </a:lnTo>
                <a:lnTo>
                  <a:pt x="0" y="1391872"/>
                </a:lnTo>
                <a:lnTo>
                  <a:pt x="0" y="0"/>
                </a:lnTo>
                <a:close/>
              </a:path>
            </a:pathLst>
          </a:custGeom>
          <a:blipFill>
            <a:blip r:embed="rId9"/>
            <a:stretch>
              <a:fillRect/>
            </a:stretch>
          </a:blipFill>
        </p:spPr>
        <p:txBody>
          <a:bodyPr/>
          <a:lstStyle/>
          <a:p>
            <a:endParaRPr lang="en-US"/>
          </a:p>
        </p:txBody>
      </p:sp>
      <p:sp>
        <p:nvSpPr>
          <p:cNvPr id="8" name="Freeform 8"/>
          <p:cNvSpPr/>
          <p:nvPr/>
        </p:nvSpPr>
        <p:spPr>
          <a:xfrm>
            <a:off x="6066388" y="2465125"/>
            <a:ext cx="7083112" cy="5966753"/>
          </a:xfrm>
          <a:custGeom>
            <a:avLst/>
            <a:gdLst/>
            <a:ahLst/>
            <a:cxnLst/>
            <a:rect l="l" t="t" r="r" b="b"/>
            <a:pathLst>
              <a:path w="7083112" h="5966753">
                <a:moveTo>
                  <a:pt x="0" y="0"/>
                </a:moveTo>
                <a:lnTo>
                  <a:pt x="7083112" y="0"/>
                </a:lnTo>
                <a:lnTo>
                  <a:pt x="7083112" y="5966754"/>
                </a:lnTo>
                <a:lnTo>
                  <a:pt x="0" y="5966754"/>
                </a:lnTo>
                <a:lnTo>
                  <a:pt x="0" y="0"/>
                </a:lnTo>
                <a:close/>
              </a:path>
            </a:pathLst>
          </a:custGeom>
          <a:blipFill>
            <a:blip r:embed="rId10"/>
            <a:stretch>
              <a:fillRect t="-7429" b="-11280"/>
            </a:stretch>
          </a:blipFill>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E6D3"/>
        </a:solidFill>
        <a:effectLst/>
      </p:bgPr>
    </p:bg>
    <p:spTree>
      <p:nvGrpSpPr>
        <p:cNvPr id="1" name=""/>
        <p:cNvGrpSpPr/>
        <p:nvPr/>
      </p:nvGrpSpPr>
      <p:grpSpPr>
        <a:xfrm>
          <a:off x="0" y="0"/>
          <a:ext cx="0" cy="0"/>
          <a:chOff x="0" y="0"/>
          <a:chExt cx="0" cy="0"/>
        </a:xfrm>
      </p:grpSpPr>
      <p:sp>
        <p:nvSpPr>
          <p:cNvPr id="2" name="Freeform 2"/>
          <p:cNvSpPr/>
          <p:nvPr/>
        </p:nvSpPr>
        <p:spPr>
          <a:xfrm flipV="1">
            <a:off x="0" y="0"/>
            <a:ext cx="3120887" cy="4114800"/>
          </a:xfrm>
          <a:custGeom>
            <a:avLst/>
            <a:gdLst/>
            <a:ahLst/>
            <a:cxnLst/>
            <a:rect l="l" t="t" r="r" b="b"/>
            <a:pathLst>
              <a:path w="3120887" h="4114800">
                <a:moveTo>
                  <a:pt x="0" y="4114800"/>
                </a:moveTo>
                <a:lnTo>
                  <a:pt x="3120887" y="4114800"/>
                </a:lnTo>
                <a:lnTo>
                  <a:pt x="3120887"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flipH="1">
            <a:off x="15167113" y="6172200"/>
            <a:ext cx="3120887" cy="4114800"/>
          </a:xfrm>
          <a:custGeom>
            <a:avLst/>
            <a:gdLst/>
            <a:ahLst/>
            <a:cxnLst/>
            <a:rect l="l" t="t" r="r" b="b"/>
            <a:pathLst>
              <a:path w="3120887" h="4114800">
                <a:moveTo>
                  <a:pt x="3120887" y="0"/>
                </a:moveTo>
                <a:lnTo>
                  <a:pt x="0" y="0"/>
                </a:lnTo>
                <a:lnTo>
                  <a:pt x="0" y="4114800"/>
                </a:lnTo>
                <a:lnTo>
                  <a:pt x="3120887" y="4114800"/>
                </a:lnTo>
                <a:lnTo>
                  <a:pt x="3120887"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 name="Freeform 4"/>
          <p:cNvSpPr/>
          <p:nvPr/>
        </p:nvSpPr>
        <p:spPr>
          <a:xfrm>
            <a:off x="14618449" y="0"/>
            <a:ext cx="3669551" cy="1392715"/>
          </a:xfrm>
          <a:custGeom>
            <a:avLst/>
            <a:gdLst/>
            <a:ahLst/>
            <a:cxnLst/>
            <a:rect l="l" t="t" r="r" b="b"/>
            <a:pathLst>
              <a:path w="3669551" h="1392715">
                <a:moveTo>
                  <a:pt x="0" y="0"/>
                </a:moveTo>
                <a:lnTo>
                  <a:pt x="3669551" y="0"/>
                </a:lnTo>
                <a:lnTo>
                  <a:pt x="3669551" y="1392715"/>
                </a:lnTo>
                <a:lnTo>
                  <a:pt x="0" y="1392715"/>
                </a:lnTo>
                <a:lnTo>
                  <a:pt x="0" y="0"/>
                </a:lnTo>
                <a:close/>
              </a:path>
            </a:pathLst>
          </a:custGeom>
          <a:blipFill>
            <a:blip r:embed="rId6"/>
            <a:stretch>
              <a:fillRect t="-13626"/>
            </a:stretch>
          </a:blipFill>
        </p:spPr>
        <p:txBody>
          <a:bodyPr/>
          <a:lstStyle/>
          <a:p>
            <a:endParaRPr lang="en-US"/>
          </a:p>
        </p:txBody>
      </p:sp>
      <p:sp>
        <p:nvSpPr>
          <p:cNvPr id="5" name="Freeform 5"/>
          <p:cNvSpPr/>
          <p:nvPr/>
        </p:nvSpPr>
        <p:spPr>
          <a:xfrm>
            <a:off x="3229917" y="0"/>
            <a:ext cx="3838021" cy="1399162"/>
          </a:xfrm>
          <a:custGeom>
            <a:avLst/>
            <a:gdLst/>
            <a:ahLst/>
            <a:cxnLst/>
            <a:rect l="l" t="t" r="r" b="b"/>
            <a:pathLst>
              <a:path w="3838021" h="1399162">
                <a:moveTo>
                  <a:pt x="0" y="0"/>
                </a:moveTo>
                <a:lnTo>
                  <a:pt x="3838021" y="0"/>
                </a:lnTo>
                <a:lnTo>
                  <a:pt x="3838021" y="1399162"/>
                </a:lnTo>
                <a:lnTo>
                  <a:pt x="0" y="1399162"/>
                </a:lnTo>
                <a:lnTo>
                  <a:pt x="0" y="0"/>
                </a:lnTo>
                <a:close/>
              </a:path>
            </a:pathLst>
          </a:custGeom>
          <a:blipFill>
            <a:blip r:embed="rId7"/>
            <a:stretch>
              <a:fillRect t="-13563"/>
            </a:stretch>
          </a:blipFill>
        </p:spPr>
        <p:txBody>
          <a:bodyPr/>
          <a:lstStyle/>
          <a:p>
            <a:endParaRPr lang="en-US"/>
          </a:p>
        </p:txBody>
      </p:sp>
      <p:grpSp>
        <p:nvGrpSpPr>
          <p:cNvPr id="6" name="Group 6"/>
          <p:cNvGrpSpPr/>
          <p:nvPr/>
        </p:nvGrpSpPr>
        <p:grpSpPr>
          <a:xfrm>
            <a:off x="1253800" y="1432182"/>
            <a:ext cx="16230600" cy="8447641"/>
            <a:chOff x="0" y="0"/>
            <a:chExt cx="4274726" cy="2224893"/>
          </a:xfrm>
        </p:grpSpPr>
        <p:sp>
          <p:nvSpPr>
            <p:cNvPr id="7" name="Freeform 7"/>
            <p:cNvSpPr/>
            <p:nvPr/>
          </p:nvSpPr>
          <p:spPr>
            <a:xfrm>
              <a:off x="0" y="0"/>
              <a:ext cx="4274726" cy="2224893"/>
            </a:xfrm>
            <a:custGeom>
              <a:avLst/>
              <a:gdLst/>
              <a:ahLst/>
              <a:cxnLst/>
              <a:rect l="l" t="t" r="r" b="b"/>
              <a:pathLst>
                <a:path w="4274726" h="2224893">
                  <a:moveTo>
                    <a:pt x="24327" y="0"/>
                  </a:moveTo>
                  <a:lnTo>
                    <a:pt x="4250399" y="0"/>
                  </a:lnTo>
                  <a:cubicBezTo>
                    <a:pt x="4263834" y="0"/>
                    <a:pt x="4274726" y="10891"/>
                    <a:pt x="4274726" y="24327"/>
                  </a:cubicBezTo>
                  <a:lnTo>
                    <a:pt x="4274726" y="2200566"/>
                  </a:lnTo>
                  <a:cubicBezTo>
                    <a:pt x="4274726" y="2207018"/>
                    <a:pt x="4272163" y="2213206"/>
                    <a:pt x="4267601" y="2217768"/>
                  </a:cubicBezTo>
                  <a:cubicBezTo>
                    <a:pt x="4263039" y="2222330"/>
                    <a:pt x="4256851" y="2224893"/>
                    <a:pt x="4250399" y="2224893"/>
                  </a:cubicBezTo>
                  <a:lnTo>
                    <a:pt x="24327" y="2224893"/>
                  </a:lnTo>
                  <a:cubicBezTo>
                    <a:pt x="10891" y="2224893"/>
                    <a:pt x="0" y="2214002"/>
                    <a:pt x="0" y="2200566"/>
                  </a:cubicBezTo>
                  <a:lnTo>
                    <a:pt x="0" y="24327"/>
                  </a:lnTo>
                  <a:cubicBezTo>
                    <a:pt x="0" y="10891"/>
                    <a:pt x="10891" y="0"/>
                    <a:pt x="24327" y="0"/>
                  </a:cubicBezTo>
                  <a:close/>
                </a:path>
              </a:pathLst>
            </a:custGeom>
            <a:solidFill>
              <a:srgbClr val="FFFFFF"/>
            </a:solidFill>
            <a:ln w="142875" cap="rnd">
              <a:solidFill>
                <a:srgbClr val="FE9555"/>
              </a:solidFill>
              <a:prstDash val="solid"/>
              <a:round/>
            </a:ln>
          </p:spPr>
          <p:txBody>
            <a:bodyPr/>
            <a:lstStyle/>
            <a:p>
              <a:endParaRPr lang="en-US"/>
            </a:p>
          </p:txBody>
        </p:sp>
        <p:sp>
          <p:nvSpPr>
            <p:cNvPr id="8" name="TextBox 8"/>
            <p:cNvSpPr txBox="1"/>
            <p:nvPr/>
          </p:nvSpPr>
          <p:spPr>
            <a:xfrm>
              <a:off x="0" y="-57150"/>
              <a:ext cx="4274726" cy="2282043"/>
            </a:xfrm>
            <a:prstGeom prst="rect">
              <a:avLst/>
            </a:prstGeom>
          </p:spPr>
          <p:txBody>
            <a:bodyPr lIns="50800" tIns="50800" rIns="50800" bIns="50800" rtlCol="0" anchor="ctr"/>
            <a:lstStyle/>
            <a:p>
              <a:pPr algn="ctr">
                <a:lnSpc>
                  <a:spcPts val="3639"/>
                </a:lnSpc>
              </a:pPr>
              <a:endParaRPr dirty="0"/>
            </a:p>
            <a:p>
              <a:pPr algn="l">
                <a:lnSpc>
                  <a:spcPts val="3639"/>
                </a:lnSpc>
              </a:pPr>
              <a:endParaRPr dirty="0"/>
            </a:p>
            <a:p>
              <a:pPr algn="just">
                <a:lnSpc>
                  <a:spcPts val="3639"/>
                </a:lnSpc>
              </a:pPr>
              <a:endParaRPr dirty="0"/>
            </a:p>
            <a:p>
              <a:pPr algn="just">
                <a:lnSpc>
                  <a:spcPts val="3639"/>
                </a:lnSpc>
              </a:pPr>
              <a:endParaRPr dirty="0"/>
            </a:p>
          </p:txBody>
        </p:sp>
      </p:grpSp>
      <p:sp>
        <p:nvSpPr>
          <p:cNvPr id="9" name="Freeform 9"/>
          <p:cNvSpPr/>
          <p:nvPr/>
        </p:nvSpPr>
        <p:spPr>
          <a:xfrm>
            <a:off x="15389549" y="1694919"/>
            <a:ext cx="1869751" cy="1575063"/>
          </a:xfrm>
          <a:custGeom>
            <a:avLst/>
            <a:gdLst/>
            <a:ahLst/>
            <a:cxnLst/>
            <a:rect l="l" t="t" r="r" b="b"/>
            <a:pathLst>
              <a:path w="1869751" h="1575063">
                <a:moveTo>
                  <a:pt x="0" y="0"/>
                </a:moveTo>
                <a:lnTo>
                  <a:pt x="1869751" y="0"/>
                </a:lnTo>
                <a:lnTo>
                  <a:pt x="1869751" y="1575063"/>
                </a:lnTo>
                <a:lnTo>
                  <a:pt x="0" y="1575063"/>
                </a:lnTo>
                <a:lnTo>
                  <a:pt x="0" y="0"/>
                </a:lnTo>
                <a:close/>
              </a:path>
            </a:pathLst>
          </a:custGeom>
          <a:blipFill>
            <a:blip r:embed="rId8"/>
            <a:stretch>
              <a:fillRect t="-7429" b="-11280"/>
            </a:stretch>
          </a:blipFill>
        </p:spPr>
        <p:txBody>
          <a:bodyPr/>
          <a:lstStyle/>
          <a:p>
            <a:endParaRPr lang="en-US"/>
          </a:p>
        </p:txBody>
      </p:sp>
      <p:sp>
        <p:nvSpPr>
          <p:cNvPr id="10" name="TextBox 10"/>
          <p:cNvSpPr txBox="1"/>
          <p:nvPr/>
        </p:nvSpPr>
        <p:spPr>
          <a:xfrm>
            <a:off x="6308994" y="2629092"/>
            <a:ext cx="6120213" cy="854077"/>
          </a:xfrm>
          <a:prstGeom prst="rect">
            <a:avLst/>
          </a:prstGeom>
        </p:spPr>
        <p:txBody>
          <a:bodyPr lIns="0" tIns="0" rIns="0" bIns="0" rtlCol="0" anchor="t">
            <a:spAutoFit/>
          </a:bodyPr>
          <a:lstStyle/>
          <a:p>
            <a:pPr algn="ctr">
              <a:lnSpc>
                <a:spcPts val="6999"/>
              </a:lnSpc>
              <a:spcBef>
                <a:spcPct val="0"/>
              </a:spcBef>
            </a:pPr>
            <a:r>
              <a:rPr lang="en-US" sz="4999" b="1" u="sng">
                <a:solidFill>
                  <a:srgbClr val="FE9555"/>
                </a:solidFill>
                <a:latin typeface="Open Sans 1 Bold"/>
                <a:ea typeface="Open Sans 1 Bold"/>
                <a:cs typeface="Open Sans 1 Bold"/>
                <a:sym typeface="Open Sans 1 Bold"/>
              </a:rPr>
              <a:t>PROJECT MEMBERS</a:t>
            </a:r>
          </a:p>
        </p:txBody>
      </p:sp>
      <p:sp>
        <p:nvSpPr>
          <p:cNvPr id="11" name="AutoShape 11"/>
          <p:cNvSpPr/>
          <p:nvPr/>
        </p:nvSpPr>
        <p:spPr>
          <a:xfrm>
            <a:off x="6492033" y="6594445"/>
            <a:ext cx="5733106" cy="0"/>
          </a:xfrm>
          <a:prstGeom prst="line">
            <a:avLst/>
          </a:prstGeom>
          <a:ln w="38100" cap="flat">
            <a:solidFill>
              <a:srgbClr val="FE9555"/>
            </a:solidFill>
            <a:prstDash val="solid"/>
            <a:headEnd type="none" w="sm" len="sm"/>
            <a:tailEnd type="none" w="sm" len="sm"/>
          </a:ln>
        </p:spPr>
        <p:txBody>
          <a:bodyPr/>
          <a:lstStyle/>
          <a:p>
            <a:endParaRPr lang="en-US"/>
          </a:p>
        </p:txBody>
      </p:sp>
      <p:sp>
        <p:nvSpPr>
          <p:cNvPr id="12" name="AutoShape 12"/>
          <p:cNvSpPr/>
          <p:nvPr/>
        </p:nvSpPr>
        <p:spPr>
          <a:xfrm>
            <a:off x="6492033" y="5746085"/>
            <a:ext cx="5733106" cy="0"/>
          </a:xfrm>
          <a:prstGeom prst="line">
            <a:avLst/>
          </a:prstGeom>
          <a:ln w="38100" cap="flat">
            <a:solidFill>
              <a:srgbClr val="FE9555"/>
            </a:solidFill>
            <a:prstDash val="solid"/>
            <a:headEnd type="none" w="sm" len="sm"/>
            <a:tailEnd type="none" w="sm" len="sm"/>
          </a:ln>
        </p:spPr>
        <p:txBody>
          <a:bodyPr/>
          <a:lstStyle/>
          <a:p>
            <a:endParaRPr lang="en-US"/>
          </a:p>
        </p:txBody>
      </p:sp>
      <p:sp>
        <p:nvSpPr>
          <p:cNvPr id="13" name="AutoShape 13"/>
          <p:cNvSpPr/>
          <p:nvPr/>
        </p:nvSpPr>
        <p:spPr>
          <a:xfrm>
            <a:off x="6492033" y="4984967"/>
            <a:ext cx="5710552" cy="1"/>
          </a:xfrm>
          <a:prstGeom prst="line">
            <a:avLst/>
          </a:prstGeom>
          <a:ln w="38100" cap="flat">
            <a:solidFill>
              <a:srgbClr val="FE9555"/>
            </a:solidFill>
            <a:prstDash val="solid"/>
            <a:headEnd type="none" w="sm" len="sm"/>
            <a:tailEnd type="none" w="sm" len="sm"/>
          </a:ln>
        </p:spPr>
        <p:txBody>
          <a:bodyPr/>
          <a:lstStyle/>
          <a:p>
            <a:endParaRPr lang="en-US"/>
          </a:p>
        </p:txBody>
      </p:sp>
      <p:sp>
        <p:nvSpPr>
          <p:cNvPr id="14" name="AutoShape 14"/>
          <p:cNvSpPr/>
          <p:nvPr/>
        </p:nvSpPr>
        <p:spPr>
          <a:xfrm>
            <a:off x="6492033" y="7457441"/>
            <a:ext cx="5733106" cy="0"/>
          </a:xfrm>
          <a:prstGeom prst="line">
            <a:avLst/>
          </a:prstGeom>
          <a:ln w="38100" cap="flat">
            <a:solidFill>
              <a:srgbClr val="FE9555"/>
            </a:solidFill>
            <a:prstDash val="solid"/>
            <a:headEnd type="none" w="sm" len="sm"/>
            <a:tailEnd type="none" w="sm" len="sm"/>
          </a:ln>
        </p:spPr>
        <p:txBody>
          <a:bodyPr/>
          <a:lstStyle/>
          <a:p>
            <a:endParaRPr lang="en-US"/>
          </a:p>
        </p:txBody>
      </p:sp>
      <p:sp>
        <p:nvSpPr>
          <p:cNvPr id="15" name="TextBox 15"/>
          <p:cNvSpPr txBox="1"/>
          <p:nvPr/>
        </p:nvSpPr>
        <p:spPr>
          <a:xfrm>
            <a:off x="6492033" y="4379089"/>
            <a:ext cx="5678686" cy="448311"/>
          </a:xfrm>
          <a:prstGeom prst="rect">
            <a:avLst/>
          </a:prstGeom>
        </p:spPr>
        <p:txBody>
          <a:bodyPr lIns="0" tIns="0" rIns="0" bIns="0" rtlCol="0" anchor="t">
            <a:spAutoFit/>
          </a:bodyPr>
          <a:lstStyle/>
          <a:p>
            <a:pPr marL="561336" lvl="1" indent="-280668" algn="ctr">
              <a:lnSpc>
                <a:spcPts val="3639"/>
              </a:lnSpc>
              <a:buFont typeface="Arial"/>
              <a:buChar char="•"/>
            </a:pPr>
            <a:r>
              <a:rPr lang="en-US" sz="2599" b="1">
                <a:solidFill>
                  <a:srgbClr val="FE9555"/>
                </a:solidFill>
                <a:latin typeface="Open Sans 1 Bold"/>
                <a:ea typeface="Open Sans 1 Bold"/>
                <a:cs typeface="Open Sans 1 Bold"/>
                <a:sym typeface="Open Sans 1 Bold"/>
              </a:rPr>
              <a:t>MOHAMMED OMAR HALAWANI</a:t>
            </a:r>
          </a:p>
        </p:txBody>
      </p:sp>
      <p:sp>
        <p:nvSpPr>
          <p:cNvPr id="16" name="TextBox 16"/>
          <p:cNvSpPr txBox="1"/>
          <p:nvPr/>
        </p:nvSpPr>
        <p:spPr>
          <a:xfrm>
            <a:off x="6492033" y="5267208"/>
            <a:ext cx="5017846" cy="448310"/>
          </a:xfrm>
          <a:prstGeom prst="rect">
            <a:avLst/>
          </a:prstGeom>
        </p:spPr>
        <p:txBody>
          <a:bodyPr lIns="0" tIns="0" rIns="0" bIns="0" rtlCol="0" anchor="t">
            <a:spAutoFit/>
          </a:bodyPr>
          <a:lstStyle/>
          <a:p>
            <a:pPr marL="561341" lvl="1" indent="-280670" algn="ctr">
              <a:lnSpc>
                <a:spcPts val="3640"/>
              </a:lnSpc>
              <a:buFont typeface="Arial"/>
              <a:buChar char="•"/>
            </a:pPr>
            <a:r>
              <a:rPr lang="en-US" sz="2600" b="1">
                <a:solidFill>
                  <a:srgbClr val="FE9555"/>
                </a:solidFill>
                <a:latin typeface="Open Sans 1 Bold"/>
                <a:ea typeface="Open Sans 1 Bold"/>
                <a:cs typeface="Open Sans 1 Bold"/>
                <a:sym typeface="Open Sans 1 Bold"/>
              </a:rPr>
              <a:t>MOHAMMED ALMANSOUR</a:t>
            </a:r>
          </a:p>
        </p:txBody>
      </p:sp>
      <p:sp>
        <p:nvSpPr>
          <p:cNvPr id="17" name="TextBox 17"/>
          <p:cNvSpPr txBox="1"/>
          <p:nvPr/>
        </p:nvSpPr>
        <p:spPr>
          <a:xfrm>
            <a:off x="6492033" y="6115050"/>
            <a:ext cx="3353996" cy="448311"/>
          </a:xfrm>
          <a:prstGeom prst="rect">
            <a:avLst/>
          </a:prstGeom>
        </p:spPr>
        <p:txBody>
          <a:bodyPr lIns="0" tIns="0" rIns="0" bIns="0" rtlCol="0" anchor="t">
            <a:spAutoFit/>
          </a:bodyPr>
          <a:lstStyle/>
          <a:p>
            <a:pPr marL="561336" lvl="1" indent="-280668" algn="ctr">
              <a:lnSpc>
                <a:spcPts val="3639"/>
              </a:lnSpc>
              <a:buFont typeface="Arial"/>
              <a:buChar char="•"/>
            </a:pPr>
            <a:r>
              <a:rPr lang="en-US" sz="2599" b="1">
                <a:solidFill>
                  <a:srgbClr val="FE9555"/>
                </a:solidFill>
                <a:latin typeface="Open Sans 1 Bold"/>
                <a:ea typeface="Open Sans 1 Bold"/>
                <a:cs typeface="Open Sans 1 Bold"/>
                <a:sym typeface="Open Sans 1 Bold"/>
              </a:rPr>
              <a:t>NAIF ALMASOUD</a:t>
            </a:r>
          </a:p>
        </p:txBody>
      </p:sp>
      <p:sp>
        <p:nvSpPr>
          <p:cNvPr id="18" name="TextBox 18"/>
          <p:cNvSpPr txBox="1"/>
          <p:nvPr/>
        </p:nvSpPr>
        <p:spPr>
          <a:xfrm>
            <a:off x="6492033" y="6965920"/>
            <a:ext cx="3826707" cy="448310"/>
          </a:xfrm>
          <a:prstGeom prst="rect">
            <a:avLst/>
          </a:prstGeom>
        </p:spPr>
        <p:txBody>
          <a:bodyPr lIns="0" tIns="0" rIns="0" bIns="0" rtlCol="0" anchor="t">
            <a:spAutoFit/>
          </a:bodyPr>
          <a:lstStyle/>
          <a:p>
            <a:pPr marL="561341" lvl="1" indent="-280670" algn="ctr">
              <a:lnSpc>
                <a:spcPts val="3640"/>
              </a:lnSpc>
              <a:buFont typeface="Arial"/>
              <a:buChar char="•"/>
            </a:pPr>
            <a:r>
              <a:rPr lang="en-US" sz="2600" b="1">
                <a:solidFill>
                  <a:srgbClr val="FE9555"/>
                </a:solidFill>
                <a:latin typeface="Open Sans 1 Bold"/>
                <a:ea typeface="Open Sans 1 Bold"/>
                <a:cs typeface="Open Sans 1 Bold"/>
                <a:sym typeface="Open Sans 1 Bold"/>
              </a:rPr>
              <a:t>AHMED AL-GHAMDI</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E6D3"/>
        </a:solidFill>
        <a:effectLst/>
      </p:bgPr>
    </p:bg>
    <p:spTree>
      <p:nvGrpSpPr>
        <p:cNvPr id="1" name=""/>
        <p:cNvGrpSpPr/>
        <p:nvPr/>
      </p:nvGrpSpPr>
      <p:grpSpPr>
        <a:xfrm>
          <a:off x="0" y="0"/>
          <a:ext cx="0" cy="0"/>
          <a:chOff x="0" y="0"/>
          <a:chExt cx="0" cy="0"/>
        </a:xfrm>
      </p:grpSpPr>
      <p:sp>
        <p:nvSpPr>
          <p:cNvPr id="2" name="Freeform 2"/>
          <p:cNvSpPr/>
          <p:nvPr/>
        </p:nvSpPr>
        <p:spPr>
          <a:xfrm flipV="1">
            <a:off x="0" y="0"/>
            <a:ext cx="3120887" cy="4114800"/>
          </a:xfrm>
          <a:custGeom>
            <a:avLst/>
            <a:gdLst/>
            <a:ahLst/>
            <a:cxnLst/>
            <a:rect l="l" t="t" r="r" b="b"/>
            <a:pathLst>
              <a:path w="3120887" h="4114800">
                <a:moveTo>
                  <a:pt x="0" y="4114800"/>
                </a:moveTo>
                <a:lnTo>
                  <a:pt x="3120887" y="4114800"/>
                </a:lnTo>
                <a:lnTo>
                  <a:pt x="3120887"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flipH="1">
            <a:off x="15167113" y="6172200"/>
            <a:ext cx="3120887" cy="4114800"/>
          </a:xfrm>
          <a:custGeom>
            <a:avLst/>
            <a:gdLst/>
            <a:ahLst/>
            <a:cxnLst/>
            <a:rect l="l" t="t" r="r" b="b"/>
            <a:pathLst>
              <a:path w="3120887" h="4114800">
                <a:moveTo>
                  <a:pt x="3120887" y="0"/>
                </a:moveTo>
                <a:lnTo>
                  <a:pt x="0" y="0"/>
                </a:lnTo>
                <a:lnTo>
                  <a:pt x="0" y="4114800"/>
                </a:lnTo>
                <a:lnTo>
                  <a:pt x="3120887" y="4114800"/>
                </a:lnTo>
                <a:lnTo>
                  <a:pt x="3120887"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grpSp>
        <p:nvGrpSpPr>
          <p:cNvPr id="4" name="Group 4"/>
          <p:cNvGrpSpPr/>
          <p:nvPr/>
        </p:nvGrpSpPr>
        <p:grpSpPr>
          <a:xfrm>
            <a:off x="1028700" y="1204677"/>
            <a:ext cx="16230600" cy="8252061"/>
            <a:chOff x="0" y="0"/>
            <a:chExt cx="4274726" cy="2173382"/>
          </a:xfrm>
        </p:grpSpPr>
        <p:sp>
          <p:nvSpPr>
            <p:cNvPr id="5" name="Freeform 5"/>
            <p:cNvSpPr/>
            <p:nvPr/>
          </p:nvSpPr>
          <p:spPr>
            <a:xfrm>
              <a:off x="0" y="0"/>
              <a:ext cx="4274726" cy="2173382"/>
            </a:xfrm>
            <a:custGeom>
              <a:avLst/>
              <a:gdLst/>
              <a:ahLst/>
              <a:cxnLst/>
              <a:rect l="l" t="t" r="r" b="b"/>
              <a:pathLst>
                <a:path w="4274726" h="2173382">
                  <a:moveTo>
                    <a:pt x="24327" y="0"/>
                  </a:moveTo>
                  <a:lnTo>
                    <a:pt x="4250399" y="0"/>
                  </a:lnTo>
                  <a:cubicBezTo>
                    <a:pt x="4263834" y="0"/>
                    <a:pt x="4274726" y="10891"/>
                    <a:pt x="4274726" y="24327"/>
                  </a:cubicBezTo>
                  <a:lnTo>
                    <a:pt x="4274726" y="2149055"/>
                  </a:lnTo>
                  <a:cubicBezTo>
                    <a:pt x="4274726" y="2155507"/>
                    <a:pt x="4272163" y="2161695"/>
                    <a:pt x="4267601" y="2166257"/>
                  </a:cubicBezTo>
                  <a:cubicBezTo>
                    <a:pt x="4263039" y="2170819"/>
                    <a:pt x="4256851" y="2173382"/>
                    <a:pt x="4250399" y="2173382"/>
                  </a:cubicBezTo>
                  <a:lnTo>
                    <a:pt x="24327" y="2173382"/>
                  </a:lnTo>
                  <a:cubicBezTo>
                    <a:pt x="10891" y="2173382"/>
                    <a:pt x="0" y="2162491"/>
                    <a:pt x="0" y="2149055"/>
                  </a:cubicBezTo>
                  <a:lnTo>
                    <a:pt x="0" y="24327"/>
                  </a:lnTo>
                  <a:cubicBezTo>
                    <a:pt x="0" y="10891"/>
                    <a:pt x="10891" y="0"/>
                    <a:pt x="24327" y="0"/>
                  </a:cubicBezTo>
                  <a:close/>
                </a:path>
              </a:pathLst>
            </a:custGeom>
            <a:solidFill>
              <a:srgbClr val="FFFFFF"/>
            </a:solidFill>
            <a:ln w="142875" cap="rnd">
              <a:solidFill>
                <a:srgbClr val="FE9555"/>
              </a:solidFill>
              <a:prstDash val="solid"/>
              <a:round/>
            </a:ln>
          </p:spPr>
          <p:txBody>
            <a:bodyPr/>
            <a:lstStyle/>
            <a:p>
              <a:endParaRPr lang="en-US"/>
            </a:p>
          </p:txBody>
        </p:sp>
        <p:sp>
          <p:nvSpPr>
            <p:cNvPr id="6" name="TextBox 6"/>
            <p:cNvSpPr txBox="1"/>
            <p:nvPr/>
          </p:nvSpPr>
          <p:spPr>
            <a:xfrm>
              <a:off x="0" y="-57150"/>
              <a:ext cx="4274726" cy="2230532"/>
            </a:xfrm>
            <a:prstGeom prst="rect">
              <a:avLst/>
            </a:prstGeom>
          </p:spPr>
          <p:txBody>
            <a:bodyPr lIns="50800" tIns="50800" rIns="50800" bIns="50800" rtlCol="0" anchor="ctr"/>
            <a:lstStyle/>
            <a:p>
              <a:pPr algn="ctr">
                <a:lnSpc>
                  <a:spcPts val="3639"/>
                </a:lnSpc>
              </a:pPr>
              <a:r>
                <a:rPr lang="en-US" sz="2599">
                  <a:solidFill>
                    <a:srgbClr val="FE9555"/>
                  </a:solidFill>
                  <a:latin typeface="Open Sans 1"/>
                  <a:ea typeface="Open Sans 1"/>
                  <a:cs typeface="Open Sans 1"/>
                  <a:sym typeface="Open Sans 1"/>
                </a:rPr>
                <a:t>Our project uses a Tello drone and a custom-trained object detection model to check if parking spaces are occupied or empty. We built the system by collecting our own images, labeling them, and training a model specifically for our parking lot. The drone captures live footage, and the model detects the status of each spot. This project demonstrates a simple but effective way to apply computer vision to real-world parking monitoring.​</a:t>
              </a:r>
            </a:p>
            <a:p>
              <a:pPr algn="ctr">
                <a:lnSpc>
                  <a:spcPts val="2659"/>
                </a:lnSpc>
                <a:spcBef>
                  <a:spcPct val="0"/>
                </a:spcBef>
              </a:pPr>
              <a:endParaRPr lang="en-US" sz="2599">
                <a:solidFill>
                  <a:srgbClr val="FE9555"/>
                </a:solidFill>
                <a:latin typeface="Open Sans 1"/>
                <a:ea typeface="Open Sans 1"/>
                <a:cs typeface="Open Sans 1"/>
                <a:sym typeface="Open Sans 1"/>
              </a:endParaRPr>
            </a:p>
          </p:txBody>
        </p:sp>
      </p:grpSp>
      <p:sp>
        <p:nvSpPr>
          <p:cNvPr id="7" name="Freeform 7"/>
          <p:cNvSpPr/>
          <p:nvPr/>
        </p:nvSpPr>
        <p:spPr>
          <a:xfrm>
            <a:off x="14618449" y="-189779"/>
            <a:ext cx="3669551" cy="1582494"/>
          </a:xfrm>
          <a:custGeom>
            <a:avLst/>
            <a:gdLst/>
            <a:ahLst/>
            <a:cxnLst/>
            <a:rect l="l" t="t" r="r" b="b"/>
            <a:pathLst>
              <a:path w="3669551" h="1582494">
                <a:moveTo>
                  <a:pt x="0" y="0"/>
                </a:moveTo>
                <a:lnTo>
                  <a:pt x="3669551" y="0"/>
                </a:lnTo>
                <a:lnTo>
                  <a:pt x="3669551" y="1582494"/>
                </a:lnTo>
                <a:lnTo>
                  <a:pt x="0" y="1582494"/>
                </a:lnTo>
                <a:lnTo>
                  <a:pt x="0" y="0"/>
                </a:lnTo>
                <a:close/>
              </a:path>
            </a:pathLst>
          </a:custGeom>
          <a:blipFill>
            <a:blip r:embed="rId6"/>
            <a:stretch>
              <a:fillRect/>
            </a:stretch>
          </a:blipFill>
        </p:spPr>
        <p:txBody>
          <a:bodyPr/>
          <a:lstStyle/>
          <a:p>
            <a:endParaRPr lang="en-US"/>
          </a:p>
        </p:txBody>
      </p:sp>
      <p:sp>
        <p:nvSpPr>
          <p:cNvPr id="8" name="Freeform 8"/>
          <p:cNvSpPr/>
          <p:nvPr/>
        </p:nvSpPr>
        <p:spPr>
          <a:xfrm>
            <a:off x="3229917" y="-189779"/>
            <a:ext cx="3838021" cy="1588941"/>
          </a:xfrm>
          <a:custGeom>
            <a:avLst/>
            <a:gdLst/>
            <a:ahLst/>
            <a:cxnLst/>
            <a:rect l="l" t="t" r="r" b="b"/>
            <a:pathLst>
              <a:path w="3838021" h="1588941">
                <a:moveTo>
                  <a:pt x="0" y="0"/>
                </a:moveTo>
                <a:lnTo>
                  <a:pt x="3838021" y="0"/>
                </a:lnTo>
                <a:lnTo>
                  <a:pt x="3838021" y="1588941"/>
                </a:lnTo>
                <a:lnTo>
                  <a:pt x="0" y="1588941"/>
                </a:lnTo>
                <a:lnTo>
                  <a:pt x="0" y="0"/>
                </a:lnTo>
                <a:close/>
              </a:path>
            </a:pathLst>
          </a:custGeom>
          <a:blipFill>
            <a:blip r:embed="rId7"/>
            <a:stretch>
              <a:fillRect/>
            </a:stretch>
          </a:blipFill>
        </p:spPr>
        <p:txBody>
          <a:bodyPr/>
          <a:lstStyle/>
          <a:p>
            <a:endParaRPr lang="en-US"/>
          </a:p>
        </p:txBody>
      </p:sp>
      <p:sp>
        <p:nvSpPr>
          <p:cNvPr id="9" name="TextBox 9"/>
          <p:cNvSpPr txBox="1"/>
          <p:nvPr/>
        </p:nvSpPr>
        <p:spPr>
          <a:xfrm>
            <a:off x="3274118" y="2903458"/>
            <a:ext cx="11739763" cy="663254"/>
          </a:xfrm>
          <a:prstGeom prst="rect">
            <a:avLst/>
          </a:prstGeom>
        </p:spPr>
        <p:txBody>
          <a:bodyPr lIns="0" tIns="0" rIns="0" bIns="0" rtlCol="0" anchor="t">
            <a:spAutoFit/>
          </a:bodyPr>
          <a:lstStyle/>
          <a:p>
            <a:pPr algn="ctr">
              <a:lnSpc>
                <a:spcPts val="5442"/>
              </a:lnSpc>
              <a:spcBef>
                <a:spcPct val="0"/>
              </a:spcBef>
            </a:pPr>
            <a:r>
              <a:rPr lang="en-US" sz="3887" b="1">
                <a:solidFill>
                  <a:srgbClr val="FE9555"/>
                </a:solidFill>
                <a:latin typeface="Open Sans 1 Bold"/>
                <a:ea typeface="Open Sans 1 Bold"/>
                <a:cs typeface="Open Sans 1 Bold"/>
                <a:sym typeface="Open Sans 1 Bold"/>
              </a:rPr>
              <a:t>Project Description</a:t>
            </a:r>
          </a:p>
        </p:txBody>
      </p:sp>
      <p:sp>
        <p:nvSpPr>
          <p:cNvPr id="10" name="Freeform 10"/>
          <p:cNvSpPr/>
          <p:nvPr/>
        </p:nvSpPr>
        <p:spPr>
          <a:xfrm>
            <a:off x="15013882" y="1404595"/>
            <a:ext cx="1869751" cy="1575063"/>
          </a:xfrm>
          <a:custGeom>
            <a:avLst/>
            <a:gdLst/>
            <a:ahLst/>
            <a:cxnLst/>
            <a:rect l="l" t="t" r="r" b="b"/>
            <a:pathLst>
              <a:path w="1869751" h="1575063">
                <a:moveTo>
                  <a:pt x="0" y="0"/>
                </a:moveTo>
                <a:lnTo>
                  <a:pt x="1869751" y="0"/>
                </a:lnTo>
                <a:lnTo>
                  <a:pt x="1869751" y="1575063"/>
                </a:lnTo>
                <a:lnTo>
                  <a:pt x="0" y="1575063"/>
                </a:lnTo>
                <a:lnTo>
                  <a:pt x="0" y="0"/>
                </a:lnTo>
                <a:close/>
              </a:path>
            </a:pathLst>
          </a:custGeom>
          <a:blipFill>
            <a:blip r:embed="rId8"/>
            <a:stretch>
              <a:fillRect t="-7429" b="-11280"/>
            </a:stretch>
          </a:blipFill>
        </p:spPr>
        <p:txBody>
          <a:bodyPr/>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E6D3"/>
        </a:solidFill>
        <a:effectLst/>
      </p:bgPr>
    </p:bg>
    <p:spTree>
      <p:nvGrpSpPr>
        <p:cNvPr id="1" name=""/>
        <p:cNvGrpSpPr/>
        <p:nvPr/>
      </p:nvGrpSpPr>
      <p:grpSpPr>
        <a:xfrm>
          <a:off x="0" y="0"/>
          <a:ext cx="0" cy="0"/>
          <a:chOff x="0" y="0"/>
          <a:chExt cx="0" cy="0"/>
        </a:xfrm>
      </p:grpSpPr>
      <p:sp>
        <p:nvSpPr>
          <p:cNvPr id="2" name="Freeform 2"/>
          <p:cNvSpPr/>
          <p:nvPr/>
        </p:nvSpPr>
        <p:spPr>
          <a:xfrm flipV="1">
            <a:off x="0" y="0"/>
            <a:ext cx="3120887" cy="4114800"/>
          </a:xfrm>
          <a:custGeom>
            <a:avLst/>
            <a:gdLst/>
            <a:ahLst/>
            <a:cxnLst/>
            <a:rect l="l" t="t" r="r" b="b"/>
            <a:pathLst>
              <a:path w="3120887" h="4114800">
                <a:moveTo>
                  <a:pt x="0" y="4114800"/>
                </a:moveTo>
                <a:lnTo>
                  <a:pt x="3120887" y="4114800"/>
                </a:lnTo>
                <a:lnTo>
                  <a:pt x="3120887"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flipH="1">
            <a:off x="15167113" y="6172200"/>
            <a:ext cx="3120887" cy="4114800"/>
          </a:xfrm>
          <a:custGeom>
            <a:avLst/>
            <a:gdLst/>
            <a:ahLst/>
            <a:cxnLst/>
            <a:rect l="l" t="t" r="r" b="b"/>
            <a:pathLst>
              <a:path w="3120887" h="4114800">
                <a:moveTo>
                  <a:pt x="3120887" y="0"/>
                </a:moveTo>
                <a:lnTo>
                  <a:pt x="0" y="0"/>
                </a:lnTo>
                <a:lnTo>
                  <a:pt x="0" y="4114800"/>
                </a:lnTo>
                <a:lnTo>
                  <a:pt x="3120887" y="4114800"/>
                </a:lnTo>
                <a:lnTo>
                  <a:pt x="3120887"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grpSp>
        <p:nvGrpSpPr>
          <p:cNvPr id="4" name="Group 4"/>
          <p:cNvGrpSpPr/>
          <p:nvPr/>
        </p:nvGrpSpPr>
        <p:grpSpPr>
          <a:xfrm>
            <a:off x="1028700" y="1204677"/>
            <a:ext cx="16230600" cy="8252061"/>
            <a:chOff x="0" y="0"/>
            <a:chExt cx="4274726" cy="2173382"/>
          </a:xfrm>
        </p:grpSpPr>
        <p:sp>
          <p:nvSpPr>
            <p:cNvPr id="5" name="Freeform 5"/>
            <p:cNvSpPr/>
            <p:nvPr/>
          </p:nvSpPr>
          <p:spPr>
            <a:xfrm>
              <a:off x="0" y="0"/>
              <a:ext cx="4274726" cy="2173382"/>
            </a:xfrm>
            <a:custGeom>
              <a:avLst/>
              <a:gdLst/>
              <a:ahLst/>
              <a:cxnLst/>
              <a:rect l="l" t="t" r="r" b="b"/>
              <a:pathLst>
                <a:path w="4274726" h="2173382">
                  <a:moveTo>
                    <a:pt x="24327" y="0"/>
                  </a:moveTo>
                  <a:lnTo>
                    <a:pt x="4250399" y="0"/>
                  </a:lnTo>
                  <a:cubicBezTo>
                    <a:pt x="4263834" y="0"/>
                    <a:pt x="4274726" y="10891"/>
                    <a:pt x="4274726" y="24327"/>
                  </a:cubicBezTo>
                  <a:lnTo>
                    <a:pt x="4274726" y="2149055"/>
                  </a:lnTo>
                  <a:cubicBezTo>
                    <a:pt x="4274726" y="2155507"/>
                    <a:pt x="4272163" y="2161695"/>
                    <a:pt x="4267601" y="2166257"/>
                  </a:cubicBezTo>
                  <a:cubicBezTo>
                    <a:pt x="4263039" y="2170819"/>
                    <a:pt x="4256851" y="2173382"/>
                    <a:pt x="4250399" y="2173382"/>
                  </a:cubicBezTo>
                  <a:lnTo>
                    <a:pt x="24327" y="2173382"/>
                  </a:lnTo>
                  <a:cubicBezTo>
                    <a:pt x="10891" y="2173382"/>
                    <a:pt x="0" y="2162491"/>
                    <a:pt x="0" y="2149055"/>
                  </a:cubicBezTo>
                  <a:lnTo>
                    <a:pt x="0" y="24327"/>
                  </a:lnTo>
                  <a:cubicBezTo>
                    <a:pt x="0" y="10891"/>
                    <a:pt x="10891" y="0"/>
                    <a:pt x="24327" y="0"/>
                  </a:cubicBezTo>
                  <a:close/>
                </a:path>
              </a:pathLst>
            </a:custGeom>
            <a:solidFill>
              <a:srgbClr val="FFFFFF"/>
            </a:solidFill>
            <a:ln w="142875" cap="rnd">
              <a:solidFill>
                <a:srgbClr val="FE9555"/>
              </a:solidFill>
              <a:prstDash val="solid"/>
              <a:round/>
            </a:ln>
          </p:spPr>
          <p:txBody>
            <a:bodyPr/>
            <a:lstStyle/>
            <a:p>
              <a:endParaRPr lang="en-US"/>
            </a:p>
          </p:txBody>
        </p:sp>
        <p:sp>
          <p:nvSpPr>
            <p:cNvPr id="6" name="TextBox 6"/>
            <p:cNvSpPr txBox="1"/>
            <p:nvPr/>
          </p:nvSpPr>
          <p:spPr>
            <a:xfrm>
              <a:off x="0" y="-47625"/>
              <a:ext cx="4274726" cy="2221007"/>
            </a:xfrm>
            <a:prstGeom prst="rect">
              <a:avLst/>
            </a:prstGeom>
          </p:spPr>
          <p:txBody>
            <a:bodyPr lIns="50800" tIns="50800" rIns="50800" bIns="50800" rtlCol="0" anchor="ctr"/>
            <a:lstStyle/>
            <a:p>
              <a:pPr algn="ctr">
                <a:lnSpc>
                  <a:spcPts val="3219"/>
                </a:lnSpc>
              </a:pPr>
              <a:r>
                <a:rPr lang="en-US" sz="2299">
                  <a:solidFill>
                    <a:srgbClr val="FE9555"/>
                  </a:solidFill>
                  <a:latin typeface="Open Sans 1"/>
                  <a:ea typeface="Open Sans 1"/>
                  <a:cs typeface="Open Sans 1"/>
                  <a:sym typeface="Open Sans 1"/>
                </a:rPr>
                <a:t>​</a:t>
              </a:r>
            </a:p>
            <a:p>
              <a:pPr algn="ctr">
                <a:lnSpc>
                  <a:spcPts val="3219"/>
                </a:lnSpc>
              </a:pPr>
              <a:r>
                <a:rPr lang="en-US" sz="2299">
                  <a:solidFill>
                    <a:srgbClr val="FE9555"/>
                  </a:solidFill>
                  <a:latin typeface="Open Sans 1"/>
                  <a:ea typeface="Open Sans 1"/>
                  <a:cs typeface="Open Sans 1"/>
                  <a:sym typeface="Open Sans 1"/>
                </a:rPr>
                <a:t>​</a:t>
              </a:r>
            </a:p>
            <a:p>
              <a:pPr algn="ctr">
                <a:lnSpc>
                  <a:spcPts val="3219"/>
                </a:lnSpc>
              </a:pPr>
              <a:endParaRPr lang="en-US" sz="2299">
                <a:solidFill>
                  <a:srgbClr val="FE9555"/>
                </a:solidFill>
                <a:latin typeface="Open Sans 1"/>
                <a:ea typeface="Open Sans 1"/>
                <a:cs typeface="Open Sans 1"/>
                <a:sym typeface="Open Sans 1"/>
              </a:endParaRPr>
            </a:p>
            <a:p>
              <a:pPr algn="ctr">
                <a:lnSpc>
                  <a:spcPts val="3219"/>
                </a:lnSpc>
              </a:pPr>
              <a:endParaRPr lang="en-US" sz="2299">
                <a:solidFill>
                  <a:srgbClr val="FE9555"/>
                </a:solidFill>
                <a:latin typeface="Open Sans 1"/>
                <a:ea typeface="Open Sans 1"/>
                <a:cs typeface="Open Sans 1"/>
                <a:sym typeface="Open Sans 1"/>
              </a:endParaRPr>
            </a:p>
            <a:p>
              <a:pPr algn="ctr">
                <a:lnSpc>
                  <a:spcPts val="2240"/>
                </a:lnSpc>
                <a:spcBef>
                  <a:spcPct val="0"/>
                </a:spcBef>
              </a:pPr>
              <a:endParaRPr lang="en-US" sz="2299">
                <a:solidFill>
                  <a:srgbClr val="FE9555"/>
                </a:solidFill>
                <a:latin typeface="Open Sans 1"/>
                <a:ea typeface="Open Sans 1"/>
                <a:cs typeface="Open Sans 1"/>
                <a:sym typeface="Open Sans 1"/>
              </a:endParaRPr>
            </a:p>
          </p:txBody>
        </p:sp>
      </p:grpSp>
      <p:sp>
        <p:nvSpPr>
          <p:cNvPr id="7" name="Freeform 7"/>
          <p:cNvSpPr/>
          <p:nvPr/>
        </p:nvSpPr>
        <p:spPr>
          <a:xfrm>
            <a:off x="14618449" y="-189779"/>
            <a:ext cx="3669551" cy="1582494"/>
          </a:xfrm>
          <a:custGeom>
            <a:avLst/>
            <a:gdLst/>
            <a:ahLst/>
            <a:cxnLst/>
            <a:rect l="l" t="t" r="r" b="b"/>
            <a:pathLst>
              <a:path w="3669551" h="1582494">
                <a:moveTo>
                  <a:pt x="0" y="0"/>
                </a:moveTo>
                <a:lnTo>
                  <a:pt x="3669551" y="0"/>
                </a:lnTo>
                <a:lnTo>
                  <a:pt x="3669551" y="1582494"/>
                </a:lnTo>
                <a:lnTo>
                  <a:pt x="0" y="1582494"/>
                </a:lnTo>
                <a:lnTo>
                  <a:pt x="0" y="0"/>
                </a:lnTo>
                <a:close/>
              </a:path>
            </a:pathLst>
          </a:custGeom>
          <a:blipFill>
            <a:blip r:embed="rId6"/>
            <a:stretch>
              <a:fillRect/>
            </a:stretch>
          </a:blipFill>
        </p:spPr>
        <p:txBody>
          <a:bodyPr/>
          <a:lstStyle/>
          <a:p>
            <a:endParaRPr lang="en-US"/>
          </a:p>
        </p:txBody>
      </p:sp>
      <p:sp>
        <p:nvSpPr>
          <p:cNvPr id="8" name="Freeform 8"/>
          <p:cNvSpPr/>
          <p:nvPr/>
        </p:nvSpPr>
        <p:spPr>
          <a:xfrm>
            <a:off x="3229917" y="-189779"/>
            <a:ext cx="3838021" cy="1588941"/>
          </a:xfrm>
          <a:custGeom>
            <a:avLst/>
            <a:gdLst/>
            <a:ahLst/>
            <a:cxnLst/>
            <a:rect l="l" t="t" r="r" b="b"/>
            <a:pathLst>
              <a:path w="3838021" h="1588941">
                <a:moveTo>
                  <a:pt x="0" y="0"/>
                </a:moveTo>
                <a:lnTo>
                  <a:pt x="3838021" y="0"/>
                </a:lnTo>
                <a:lnTo>
                  <a:pt x="3838021" y="1588941"/>
                </a:lnTo>
                <a:lnTo>
                  <a:pt x="0" y="1588941"/>
                </a:lnTo>
                <a:lnTo>
                  <a:pt x="0" y="0"/>
                </a:lnTo>
                <a:close/>
              </a:path>
            </a:pathLst>
          </a:custGeom>
          <a:blipFill>
            <a:blip r:embed="rId7"/>
            <a:stretch>
              <a:fillRect/>
            </a:stretch>
          </a:blipFill>
        </p:spPr>
        <p:txBody>
          <a:bodyPr/>
          <a:lstStyle/>
          <a:p>
            <a:endParaRPr lang="en-US"/>
          </a:p>
        </p:txBody>
      </p:sp>
      <p:grpSp>
        <p:nvGrpSpPr>
          <p:cNvPr id="9" name="Group 9"/>
          <p:cNvGrpSpPr/>
          <p:nvPr/>
        </p:nvGrpSpPr>
        <p:grpSpPr>
          <a:xfrm>
            <a:off x="10929508" y="3252316"/>
            <a:ext cx="5970050" cy="6005984"/>
            <a:chOff x="0" y="0"/>
            <a:chExt cx="836912" cy="841950"/>
          </a:xfrm>
        </p:grpSpPr>
        <p:sp>
          <p:nvSpPr>
            <p:cNvPr id="10" name="Freeform 10"/>
            <p:cNvSpPr/>
            <p:nvPr/>
          </p:nvSpPr>
          <p:spPr>
            <a:xfrm>
              <a:off x="0" y="0"/>
              <a:ext cx="836912" cy="841950"/>
            </a:xfrm>
            <a:custGeom>
              <a:avLst/>
              <a:gdLst/>
              <a:ahLst/>
              <a:cxnLst/>
              <a:rect l="l" t="t" r="r" b="b"/>
              <a:pathLst>
                <a:path w="836912" h="841950">
                  <a:moveTo>
                    <a:pt x="29826" y="0"/>
                  </a:moveTo>
                  <a:lnTo>
                    <a:pt x="807086" y="0"/>
                  </a:lnTo>
                  <a:cubicBezTo>
                    <a:pt x="823558" y="0"/>
                    <a:pt x="836912" y="13354"/>
                    <a:pt x="836912" y="29826"/>
                  </a:cubicBezTo>
                  <a:lnTo>
                    <a:pt x="836912" y="812123"/>
                  </a:lnTo>
                  <a:cubicBezTo>
                    <a:pt x="836912" y="828596"/>
                    <a:pt x="823558" y="841950"/>
                    <a:pt x="807086" y="841950"/>
                  </a:cubicBezTo>
                  <a:lnTo>
                    <a:pt x="29826" y="841950"/>
                  </a:lnTo>
                  <a:cubicBezTo>
                    <a:pt x="13354" y="841950"/>
                    <a:pt x="0" y="828596"/>
                    <a:pt x="0" y="812123"/>
                  </a:cubicBezTo>
                  <a:lnTo>
                    <a:pt x="0" y="29826"/>
                  </a:lnTo>
                  <a:cubicBezTo>
                    <a:pt x="0" y="13354"/>
                    <a:pt x="13354" y="0"/>
                    <a:pt x="29826" y="0"/>
                  </a:cubicBezTo>
                  <a:close/>
                </a:path>
              </a:pathLst>
            </a:custGeom>
            <a:blipFill>
              <a:blip r:embed="rId8"/>
              <a:stretch>
                <a:fillRect t="-5609" b="-5609"/>
              </a:stretch>
            </a:blipFill>
          </p:spPr>
          <p:txBody>
            <a:bodyPr/>
            <a:lstStyle/>
            <a:p>
              <a:endParaRPr lang="en-US"/>
            </a:p>
          </p:txBody>
        </p:sp>
      </p:grpSp>
      <p:sp>
        <p:nvSpPr>
          <p:cNvPr id="11" name="TextBox 11"/>
          <p:cNvSpPr txBox="1"/>
          <p:nvPr/>
        </p:nvSpPr>
        <p:spPr>
          <a:xfrm>
            <a:off x="2470426" y="2245709"/>
            <a:ext cx="11739763" cy="663254"/>
          </a:xfrm>
          <a:prstGeom prst="rect">
            <a:avLst/>
          </a:prstGeom>
        </p:spPr>
        <p:txBody>
          <a:bodyPr lIns="0" tIns="0" rIns="0" bIns="0" rtlCol="0" anchor="t">
            <a:spAutoFit/>
          </a:bodyPr>
          <a:lstStyle/>
          <a:p>
            <a:pPr algn="ctr">
              <a:lnSpc>
                <a:spcPts val="5442"/>
              </a:lnSpc>
              <a:spcBef>
                <a:spcPct val="0"/>
              </a:spcBef>
            </a:pPr>
            <a:r>
              <a:rPr lang="en-US" sz="3887" b="1">
                <a:solidFill>
                  <a:srgbClr val="FE9555"/>
                </a:solidFill>
                <a:latin typeface="Open Sans 1 Bold"/>
                <a:ea typeface="Open Sans 1 Bold"/>
                <a:cs typeface="Open Sans 1 Bold"/>
                <a:sym typeface="Open Sans 1 Bold"/>
              </a:rPr>
              <a:t>Data Collection</a:t>
            </a:r>
          </a:p>
        </p:txBody>
      </p:sp>
      <p:sp>
        <p:nvSpPr>
          <p:cNvPr id="12" name="TextBox 12"/>
          <p:cNvSpPr txBox="1"/>
          <p:nvPr/>
        </p:nvSpPr>
        <p:spPr>
          <a:xfrm>
            <a:off x="1560443" y="3453130"/>
            <a:ext cx="9369065" cy="5722458"/>
          </a:xfrm>
          <a:prstGeom prst="rect">
            <a:avLst/>
          </a:prstGeom>
        </p:spPr>
        <p:txBody>
          <a:bodyPr lIns="0" tIns="0" rIns="0" bIns="0" rtlCol="0" anchor="t">
            <a:spAutoFit/>
          </a:bodyPr>
          <a:lstStyle/>
          <a:p>
            <a:pPr algn="l">
              <a:lnSpc>
                <a:spcPts val="3263"/>
              </a:lnSpc>
              <a:spcBef>
                <a:spcPct val="0"/>
              </a:spcBef>
            </a:pPr>
            <a:r>
              <a:rPr lang="en-US" sz="2331">
                <a:solidFill>
                  <a:srgbClr val="FE9555"/>
                </a:solidFill>
                <a:latin typeface="Open Sans 1"/>
                <a:ea typeface="Open Sans 1"/>
                <a:cs typeface="Open Sans 1"/>
                <a:sym typeface="Open Sans 1"/>
              </a:rPr>
              <a:t>We built our dataset by capturing real images of a local parking lot using both smartphones and the Tello drone. Most of the photos were taken with our phones from different angles, distances, and lighting conditions to ensure variety.​</a:t>
            </a:r>
          </a:p>
          <a:p>
            <a:pPr algn="l">
              <a:lnSpc>
                <a:spcPts val="3263"/>
              </a:lnSpc>
              <a:spcBef>
                <a:spcPct val="0"/>
              </a:spcBef>
            </a:pPr>
            <a:r>
              <a:rPr lang="en-US" sz="2331">
                <a:solidFill>
                  <a:srgbClr val="FE9555"/>
                </a:solidFill>
                <a:latin typeface="Open Sans 1"/>
                <a:ea typeface="Open Sans 1"/>
                <a:cs typeface="Open Sans 1"/>
                <a:sym typeface="Open Sans 1"/>
              </a:rPr>
              <a:t>One unique aspect of our parking lot is that the spaces are marked with circular ground markings instead of traditional painted lines, which made standard datasets less effective for our use case. The drone was mainly used for overhead views during testing.​</a:t>
            </a:r>
          </a:p>
          <a:p>
            <a:pPr algn="l">
              <a:lnSpc>
                <a:spcPts val="3263"/>
              </a:lnSpc>
              <a:spcBef>
                <a:spcPct val="0"/>
              </a:spcBef>
            </a:pPr>
            <a:r>
              <a:rPr lang="en-US" sz="2331">
                <a:solidFill>
                  <a:srgbClr val="FE9555"/>
                </a:solidFill>
                <a:latin typeface="Open Sans 1"/>
                <a:ea typeface="Open Sans 1"/>
                <a:cs typeface="Open Sans 1"/>
                <a:sym typeface="Open Sans 1"/>
              </a:rPr>
              <a:t>After collecting the images, we manually annotated each one to label parking spots as either "occupied" or "empty." To expand the dataset and improve model performance, we applied data augmentation techniques like rotation, flipping, and brightness changes.​</a:t>
            </a:r>
          </a:p>
          <a:p>
            <a:pPr algn="l">
              <a:lnSpc>
                <a:spcPts val="3263"/>
              </a:lnSpc>
              <a:spcBef>
                <a:spcPct val="0"/>
              </a:spcBef>
            </a:pPr>
            <a:endParaRPr lang="en-US" sz="2331">
              <a:solidFill>
                <a:srgbClr val="FE9555"/>
              </a:solidFill>
              <a:latin typeface="Open Sans 1"/>
              <a:ea typeface="Open Sans 1"/>
              <a:cs typeface="Open Sans 1"/>
              <a:sym typeface="Open Sans 1"/>
            </a:endParaRPr>
          </a:p>
        </p:txBody>
      </p:sp>
      <p:sp>
        <p:nvSpPr>
          <p:cNvPr id="13" name="Freeform 13"/>
          <p:cNvSpPr/>
          <p:nvPr/>
        </p:nvSpPr>
        <p:spPr>
          <a:xfrm>
            <a:off x="15167113" y="1399162"/>
            <a:ext cx="1869751" cy="1575063"/>
          </a:xfrm>
          <a:custGeom>
            <a:avLst/>
            <a:gdLst/>
            <a:ahLst/>
            <a:cxnLst/>
            <a:rect l="l" t="t" r="r" b="b"/>
            <a:pathLst>
              <a:path w="1869751" h="1575063">
                <a:moveTo>
                  <a:pt x="0" y="0"/>
                </a:moveTo>
                <a:lnTo>
                  <a:pt x="1869751" y="0"/>
                </a:lnTo>
                <a:lnTo>
                  <a:pt x="1869751" y="1575063"/>
                </a:lnTo>
                <a:lnTo>
                  <a:pt x="0" y="1575063"/>
                </a:lnTo>
                <a:lnTo>
                  <a:pt x="0" y="0"/>
                </a:lnTo>
                <a:close/>
              </a:path>
            </a:pathLst>
          </a:custGeom>
          <a:blipFill>
            <a:blip r:embed="rId9"/>
            <a:stretch>
              <a:fillRect t="-7429" b="-11280"/>
            </a:stretch>
          </a:blipFill>
        </p:spPr>
        <p:txBody>
          <a:bodyP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E6D3"/>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227138"/>
            <a:ext cx="16230600" cy="8229600"/>
            <a:chOff x="0" y="0"/>
            <a:chExt cx="4274726" cy="2167467"/>
          </a:xfrm>
        </p:grpSpPr>
        <p:sp>
          <p:nvSpPr>
            <p:cNvPr id="3" name="Freeform 3"/>
            <p:cNvSpPr/>
            <p:nvPr/>
          </p:nvSpPr>
          <p:spPr>
            <a:xfrm>
              <a:off x="0" y="0"/>
              <a:ext cx="4274726" cy="2167467"/>
            </a:xfrm>
            <a:custGeom>
              <a:avLst/>
              <a:gdLst/>
              <a:ahLst/>
              <a:cxnLst/>
              <a:rect l="l" t="t" r="r" b="b"/>
              <a:pathLst>
                <a:path w="4274726" h="2167467">
                  <a:moveTo>
                    <a:pt x="24327" y="0"/>
                  </a:moveTo>
                  <a:lnTo>
                    <a:pt x="4250399" y="0"/>
                  </a:lnTo>
                  <a:cubicBezTo>
                    <a:pt x="4263834" y="0"/>
                    <a:pt x="4274726" y="10891"/>
                    <a:pt x="4274726" y="24327"/>
                  </a:cubicBezTo>
                  <a:lnTo>
                    <a:pt x="4274726" y="2143140"/>
                  </a:lnTo>
                  <a:cubicBezTo>
                    <a:pt x="4274726" y="2156575"/>
                    <a:pt x="4263834" y="2167467"/>
                    <a:pt x="4250399" y="2167467"/>
                  </a:cubicBezTo>
                  <a:lnTo>
                    <a:pt x="24327" y="2167467"/>
                  </a:lnTo>
                  <a:cubicBezTo>
                    <a:pt x="10891" y="2167467"/>
                    <a:pt x="0" y="2156575"/>
                    <a:pt x="0" y="2143140"/>
                  </a:cubicBezTo>
                  <a:lnTo>
                    <a:pt x="0" y="24327"/>
                  </a:lnTo>
                  <a:cubicBezTo>
                    <a:pt x="0" y="10891"/>
                    <a:pt x="10891" y="0"/>
                    <a:pt x="24327" y="0"/>
                  </a:cubicBezTo>
                  <a:close/>
                </a:path>
              </a:pathLst>
            </a:custGeom>
            <a:solidFill>
              <a:srgbClr val="FFFFFF"/>
            </a:solidFill>
            <a:ln w="142875" cap="rnd">
              <a:solidFill>
                <a:srgbClr val="FE9555"/>
              </a:solidFill>
              <a:prstDash val="solid"/>
              <a:round/>
            </a:ln>
          </p:spPr>
          <p:txBody>
            <a:bodyPr/>
            <a:lstStyle/>
            <a:p>
              <a:endParaRPr lang="en-US"/>
            </a:p>
          </p:txBody>
        </p:sp>
        <p:sp>
          <p:nvSpPr>
            <p:cNvPr id="4" name="TextBox 4"/>
            <p:cNvSpPr txBox="1"/>
            <p:nvPr/>
          </p:nvSpPr>
          <p:spPr>
            <a:xfrm>
              <a:off x="0" y="-85725"/>
              <a:ext cx="4274726" cy="2253192"/>
            </a:xfrm>
            <a:prstGeom prst="rect">
              <a:avLst/>
            </a:prstGeom>
          </p:spPr>
          <p:txBody>
            <a:bodyPr lIns="50800" tIns="50800" rIns="50800" bIns="50800" rtlCol="0" anchor="t"/>
            <a:lstStyle/>
            <a:p>
              <a:pPr algn="ctr">
                <a:lnSpc>
                  <a:spcPts val="6579"/>
                </a:lnSpc>
              </a:pPr>
              <a:endParaRPr/>
            </a:p>
            <a:p>
              <a:pPr algn="ctr">
                <a:lnSpc>
                  <a:spcPts val="5459"/>
                </a:lnSpc>
                <a:spcBef>
                  <a:spcPct val="0"/>
                </a:spcBef>
              </a:pPr>
              <a:r>
                <a:rPr lang="en-US" sz="3899" b="1">
                  <a:solidFill>
                    <a:srgbClr val="FE9555"/>
                  </a:solidFill>
                  <a:latin typeface="Open Sans 1 Bold"/>
                  <a:ea typeface="Open Sans 1 Bold"/>
                  <a:cs typeface="Open Sans 1 Bold"/>
                  <a:sym typeface="Open Sans 1 Bold"/>
                </a:rPr>
                <a:t>Training Phase​</a:t>
              </a:r>
            </a:p>
            <a:p>
              <a:pPr algn="ctr">
                <a:lnSpc>
                  <a:spcPts val="5599"/>
                </a:lnSpc>
                <a:spcBef>
                  <a:spcPct val="0"/>
                </a:spcBef>
              </a:pPr>
              <a:endParaRPr lang="en-US" sz="3899" b="1">
                <a:solidFill>
                  <a:srgbClr val="FE9555"/>
                </a:solidFill>
                <a:latin typeface="Open Sans 1 Bold"/>
                <a:ea typeface="Open Sans 1 Bold"/>
                <a:cs typeface="Open Sans 1 Bold"/>
                <a:sym typeface="Open Sans 1 Bold"/>
              </a:endParaRPr>
            </a:p>
            <a:p>
              <a:pPr algn="ctr">
                <a:lnSpc>
                  <a:spcPts val="6579"/>
                </a:lnSpc>
                <a:spcBef>
                  <a:spcPct val="0"/>
                </a:spcBef>
              </a:pPr>
              <a:endParaRPr lang="en-US" sz="3899" b="1">
                <a:solidFill>
                  <a:srgbClr val="FE9555"/>
                </a:solidFill>
                <a:latin typeface="Open Sans 1 Bold"/>
                <a:ea typeface="Open Sans 1 Bold"/>
                <a:cs typeface="Open Sans 1 Bold"/>
                <a:sym typeface="Open Sans 1 Bold"/>
              </a:endParaRPr>
            </a:p>
            <a:p>
              <a:pPr algn="ctr">
                <a:lnSpc>
                  <a:spcPts val="6579"/>
                </a:lnSpc>
                <a:spcBef>
                  <a:spcPct val="0"/>
                </a:spcBef>
              </a:pPr>
              <a:endParaRPr lang="en-US" sz="3899" b="1">
                <a:solidFill>
                  <a:srgbClr val="FE9555"/>
                </a:solidFill>
                <a:latin typeface="Open Sans 1 Bold"/>
                <a:ea typeface="Open Sans 1 Bold"/>
                <a:cs typeface="Open Sans 1 Bold"/>
                <a:sym typeface="Open Sans 1 Bold"/>
              </a:endParaRPr>
            </a:p>
          </p:txBody>
        </p:sp>
      </p:grpSp>
      <p:sp>
        <p:nvSpPr>
          <p:cNvPr id="5" name="Freeform 5"/>
          <p:cNvSpPr/>
          <p:nvPr/>
        </p:nvSpPr>
        <p:spPr>
          <a:xfrm flipV="1">
            <a:off x="0" y="0"/>
            <a:ext cx="3120887" cy="4114800"/>
          </a:xfrm>
          <a:custGeom>
            <a:avLst/>
            <a:gdLst/>
            <a:ahLst/>
            <a:cxnLst/>
            <a:rect l="l" t="t" r="r" b="b"/>
            <a:pathLst>
              <a:path w="3120887" h="4114800">
                <a:moveTo>
                  <a:pt x="0" y="4114800"/>
                </a:moveTo>
                <a:lnTo>
                  <a:pt x="3120887" y="4114800"/>
                </a:lnTo>
                <a:lnTo>
                  <a:pt x="3120887"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 name="Freeform 6"/>
          <p:cNvSpPr/>
          <p:nvPr/>
        </p:nvSpPr>
        <p:spPr>
          <a:xfrm flipH="1">
            <a:off x="15167113" y="6172200"/>
            <a:ext cx="3120887" cy="4114800"/>
          </a:xfrm>
          <a:custGeom>
            <a:avLst/>
            <a:gdLst/>
            <a:ahLst/>
            <a:cxnLst/>
            <a:rect l="l" t="t" r="r" b="b"/>
            <a:pathLst>
              <a:path w="3120887" h="4114800">
                <a:moveTo>
                  <a:pt x="3120887" y="0"/>
                </a:moveTo>
                <a:lnTo>
                  <a:pt x="0" y="0"/>
                </a:lnTo>
                <a:lnTo>
                  <a:pt x="0" y="4114800"/>
                </a:lnTo>
                <a:lnTo>
                  <a:pt x="3120887" y="4114800"/>
                </a:lnTo>
                <a:lnTo>
                  <a:pt x="3120887"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7" name="Freeform 7"/>
          <p:cNvSpPr/>
          <p:nvPr/>
        </p:nvSpPr>
        <p:spPr>
          <a:xfrm>
            <a:off x="14618449" y="-189779"/>
            <a:ext cx="3669551" cy="1582494"/>
          </a:xfrm>
          <a:custGeom>
            <a:avLst/>
            <a:gdLst/>
            <a:ahLst/>
            <a:cxnLst/>
            <a:rect l="l" t="t" r="r" b="b"/>
            <a:pathLst>
              <a:path w="3669551" h="1582494">
                <a:moveTo>
                  <a:pt x="0" y="0"/>
                </a:moveTo>
                <a:lnTo>
                  <a:pt x="3669551" y="0"/>
                </a:lnTo>
                <a:lnTo>
                  <a:pt x="3669551" y="1582494"/>
                </a:lnTo>
                <a:lnTo>
                  <a:pt x="0" y="1582494"/>
                </a:lnTo>
                <a:lnTo>
                  <a:pt x="0" y="0"/>
                </a:lnTo>
                <a:close/>
              </a:path>
            </a:pathLst>
          </a:custGeom>
          <a:blipFill>
            <a:blip r:embed="rId6"/>
            <a:stretch>
              <a:fillRect/>
            </a:stretch>
          </a:blipFill>
        </p:spPr>
        <p:txBody>
          <a:bodyPr/>
          <a:lstStyle/>
          <a:p>
            <a:endParaRPr lang="en-US"/>
          </a:p>
        </p:txBody>
      </p:sp>
      <p:sp>
        <p:nvSpPr>
          <p:cNvPr id="8" name="Freeform 8"/>
          <p:cNvSpPr/>
          <p:nvPr/>
        </p:nvSpPr>
        <p:spPr>
          <a:xfrm>
            <a:off x="3229917" y="-189779"/>
            <a:ext cx="3838021" cy="1588941"/>
          </a:xfrm>
          <a:custGeom>
            <a:avLst/>
            <a:gdLst/>
            <a:ahLst/>
            <a:cxnLst/>
            <a:rect l="l" t="t" r="r" b="b"/>
            <a:pathLst>
              <a:path w="3838021" h="1588941">
                <a:moveTo>
                  <a:pt x="0" y="0"/>
                </a:moveTo>
                <a:lnTo>
                  <a:pt x="3838021" y="0"/>
                </a:lnTo>
                <a:lnTo>
                  <a:pt x="3838021" y="1588941"/>
                </a:lnTo>
                <a:lnTo>
                  <a:pt x="0" y="1588941"/>
                </a:lnTo>
                <a:lnTo>
                  <a:pt x="0" y="0"/>
                </a:lnTo>
                <a:close/>
              </a:path>
            </a:pathLst>
          </a:custGeom>
          <a:blipFill>
            <a:blip r:embed="rId7"/>
            <a:stretch>
              <a:fillRect/>
            </a:stretch>
          </a:blipFill>
        </p:spPr>
        <p:txBody>
          <a:bodyPr/>
          <a:lstStyle/>
          <a:p>
            <a:endParaRPr lang="en-US"/>
          </a:p>
        </p:txBody>
      </p:sp>
      <p:sp>
        <p:nvSpPr>
          <p:cNvPr id="9" name="TextBox 9"/>
          <p:cNvSpPr txBox="1"/>
          <p:nvPr/>
        </p:nvSpPr>
        <p:spPr>
          <a:xfrm>
            <a:off x="1287267" y="2951228"/>
            <a:ext cx="15749597" cy="4527790"/>
          </a:xfrm>
          <a:prstGeom prst="rect">
            <a:avLst/>
          </a:prstGeom>
        </p:spPr>
        <p:txBody>
          <a:bodyPr lIns="0" tIns="0" rIns="0" bIns="0" rtlCol="0" anchor="t">
            <a:spAutoFit/>
          </a:bodyPr>
          <a:lstStyle/>
          <a:p>
            <a:pPr algn="ctr">
              <a:lnSpc>
                <a:spcPts val="4011"/>
              </a:lnSpc>
            </a:pPr>
            <a:r>
              <a:rPr lang="en-US" sz="2865">
                <a:solidFill>
                  <a:srgbClr val="FE9555"/>
                </a:solidFill>
                <a:latin typeface="Open Sans 2"/>
                <a:ea typeface="Open Sans 2"/>
                <a:cs typeface="Open Sans 2"/>
                <a:sym typeface="Open Sans 2"/>
              </a:rPr>
              <a:t>​</a:t>
            </a:r>
          </a:p>
          <a:p>
            <a:pPr algn="ctr">
              <a:lnSpc>
                <a:spcPts val="4011"/>
              </a:lnSpc>
            </a:pPr>
            <a:r>
              <a:rPr lang="en-US" sz="2865">
                <a:solidFill>
                  <a:srgbClr val="FE9555"/>
                </a:solidFill>
                <a:latin typeface="Open Sans 2"/>
                <a:ea typeface="Open Sans 2"/>
                <a:cs typeface="Open Sans 2"/>
                <a:sym typeface="Open Sans 2"/>
              </a:rPr>
              <a:t>​</a:t>
            </a:r>
          </a:p>
          <a:p>
            <a:pPr algn="ctr">
              <a:lnSpc>
                <a:spcPts val="4011"/>
              </a:lnSpc>
            </a:pPr>
            <a:r>
              <a:rPr lang="en-US" sz="2865">
                <a:solidFill>
                  <a:srgbClr val="FE9555"/>
                </a:solidFill>
                <a:latin typeface="Open Sans 2"/>
                <a:ea typeface="Open Sans 2"/>
                <a:cs typeface="Open Sans 2"/>
                <a:sym typeface="Open Sans 2"/>
              </a:rPr>
              <a:t>For the training phase, we used a YOLOv8s model with over images.​</a:t>
            </a:r>
          </a:p>
          <a:p>
            <a:pPr algn="ctr">
              <a:lnSpc>
                <a:spcPts val="4011"/>
              </a:lnSpc>
            </a:pPr>
            <a:r>
              <a:rPr lang="en-US" sz="2865">
                <a:solidFill>
                  <a:srgbClr val="FE9555"/>
                </a:solidFill>
                <a:latin typeface="Open Sans 2"/>
                <a:ea typeface="Open Sans 2"/>
                <a:cs typeface="Open Sans 2"/>
                <a:sym typeface="Open Sans 2"/>
              </a:rPr>
              <a:t>All the data was collected manually using our smartphones, with different parking areas.</a:t>
            </a:r>
          </a:p>
          <a:p>
            <a:pPr algn="ctr">
              <a:lnSpc>
                <a:spcPts val="4011"/>
              </a:lnSpc>
            </a:pPr>
            <a:r>
              <a:rPr lang="en-US" sz="2865">
                <a:solidFill>
                  <a:srgbClr val="FE9555"/>
                </a:solidFill>
                <a:latin typeface="Open Sans 2"/>
                <a:ea typeface="Open Sans 2"/>
                <a:cs typeface="Open Sans 2"/>
                <a:sym typeface="Open Sans 2"/>
              </a:rPr>
              <a:t>​</a:t>
            </a:r>
          </a:p>
          <a:p>
            <a:pPr algn="ctr">
              <a:lnSpc>
                <a:spcPts val="4011"/>
              </a:lnSpc>
            </a:pPr>
            <a:r>
              <a:rPr lang="en-US" sz="2865">
                <a:solidFill>
                  <a:srgbClr val="FE9555"/>
                </a:solidFill>
                <a:latin typeface="Open Sans 2"/>
                <a:ea typeface="Open Sans 2"/>
                <a:cs typeface="Open Sans 2"/>
                <a:sym typeface="Open Sans 2"/>
              </a:rPr>
              <a:t>We labeled each image ourselves, classifying the parking spots as either empty or occupied.​</a:t>
            </a:r>
          </a:p>
          <a:p>
            <a:pPr algn="ctr">
              <a:lnSpc>
                <a:spcPts val="4011"/>
              </a:lnSpc>
            </a:pPr>
            <a:r>
              <a:rPr lang="en-US" sz="2865">
                <a:solidFill>
                  <a:srgbClr val="FE9555"/>
                </a:solidFill>
                <a:latin typeface="Open Sans 2"/>
                <a:ea typeface="Open Sans 2"/>
                <a:cs typeface="Open Sans 2"/>
                <a:sym typeface="Open Sans 2"/>
              </a:rPr>
              <a:t>The annotation was done using Roboflow, and we trained the model on visual studio​</a:t>
            </a:r>
          </a:p>
          <a:p>
            <a:pPr algn="ctr">
              <a:lnSpc>
                <a:spcPts val="4011"/>
              </a:lnSpc>
            </a:pPr>
            <a:r>
              <a:rPr lang="en-US" sz="2865">
                <a:solidFill>
                  <a:srgbClr val="FE9555"/>
                </a:solidFill>
                <a:latin typeface="Open Sans 2"/>
                <a:ea typeface="Open Sans 2"/>
                <a:cs typeface="Open Sans 2"/>
                <a:sym typeface="Open Sans 2"/>
              </a:rPr>
              <a:t>The whole training process took about 2.5 h​ours.</a:t>
            </a:r>
          </a:p>
          <a:p>
            <a:pPr algn="just">
              <a:lnSpc>
                <a:spcPts val="4011"/>
              </a:lnSpc>
            </a:pPr>
            <a:endParaRPr lang="en-US" sz="2865">
              <a:solidFill>
                <a:srgbClr val="FE9555"/>
              </a:solidFill>
              <a:latin typeface="Open Sans 2"/>
              <a:ea typeface="Open Sans 2"/>
              <a:cs typeface="Open Sans 2"/>
              <a:sym typeface="Open Sans 2"/>
            </a:endParaRPr>
          </a:p>
        </p:txBody>
      </p:sp>
      <p:sp>
        <p:nvSpPr>
          <p:cNvPr id="10" name="Freeform 10"/>
          <p:cNvSpPr/>
          <p:nvPr/>
        </p:nvSpPr>
        <p:spPr>
          <a:xfrm>
            <a:off x="15167113" y="1433316"/>
            <a:ext cx="1869751" cy="1575063"/>
          </a:xfrm>
          <a:custGeom>
            <a:avLst/>
            <a:gdLst/>
            <a:ahLst/>
            <a:cxnLst/>
            <a:rect l="l" t="t" r="r" b="b"/>
            <a:pathLst>
              <a:path w="1869751" h="1575063">
                <a:moveTo>
                  <a:pt x="0" y="0"/>
                </a:moveTo>
                <a:lnTo>
                  <a:pt x="1869751" y="0"/>
                </a:lnTo>
                <a:lnTo>
                  <a:pt x="1869751" y="1575062"/>
                </a:lnTo>
                <a:lnTo>
                  <a:pt x="0" y="1575062"/>
                </a:lnTo>
                <a:lnTo>
                  <a:pt x="0" y="0"/>
                </a:lnTo>
                <a:close/>
              </a:path>
            </a:pathLst>
          </a:custGeom>
          <a:blipFill>
            <a:blip r:embed="rId8"/>
            <a:stretch>
              <a:fillRect t="-7429" b="-11280"/>
            </a:stretch>
          </a:blipFill>
        </p:spPr>
        <p:txBody>
          <a:bodyP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E6D3"/>
        </a:solidFill>
        <a:effectLst/>
      </p:bgPr>
    </p:bg>
    <p:spTree>
      <p:nvGrpSpPr>
        <p:cNvPr id="1" name=""/>
        <p:cNvGrpSpPr/>
        <p:nvPr/>
      </p:nvGrpSpPr>
      <p:grpSpPr>
        <a:xfrm>
          <a:off x="0" y="0"/>
          <a:ext cx="0" cy="0"/>
          <a:chOff x="0" y="0"/>
          <a:chExt cx="0" cy="0"/>
        </a:xfrm>
      </p:grpSpPr>
      <p:sp>
        <p:nvSpPr>
          <p:cNvPr id="2" name="Freeform 2"/>
          <p:cNvSpPr/>
          <p:nvPr/>
        </p:nvSpPr>
        <p:spPr>
          <a:xfrm flipV="1">
            <a:off x="0" y="0"/>
            <a:ext cx="3120887" cy="4114800"/>
          </a:xfrm>
          <a:custGeom>
            <a:avLst/>
            <a:gdLst/>
            <a:ahLst/>
            <a:cxnLst/>
            <a:rect l="l" t="t" r="r" b="b"/>
            <a:pathLst>
              <a:path w="3120887" h="4114800">
                <a:moveTo>
                  <a:pt x="0" y="4114800"/>
                </a:moveTo>
                <a:lnTo>
                  <a:pt x="3120887" y="4114800"/>
                </a:lnTo>
                <a:lnTo>
                  <a:pt x="3120887"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flipH="1">
            <a:off x="15167113" y="6172200"/>
            <a:ext cx="3120887" cy="4114800"/>
          </a:xfrm>
          <a:custGeom>
            <a:avLst/>
            <a:gdLst/>
            <a:ahLst/>
            <a:cxnLst/>
            <a:rect l="l" t="t" r="r" b="b"/>
            <a:pathLst>
              <a:path w="3120887" h="4114800">
                <a:moveTo>
                  <a:pt x="3120887" y="0"/>
                </a:moveTo>
                <a:lnTo>
                  <a:pt x="0" y="0"/>
                </a:lnTo>
                <a:lnTo>
                  <a:pt x="0" y="4114800"/>
                </a:lnTo>
                <a:lnTo>
                  <a:pt x="3120887" y="4114800"/>
                </a:lnTo>
                <a:lnTo>
                  <a:pt x="3120887"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grpSp>
        <p:nvGrpSpPr>
          <p:cNvPr id="4" name="Group 4"/>
          <p:cNvGrpSpPr/>
          <p:nvPr/>
        </p:nvGrpSpPr>
        <p:grpSpPr>
          <a:xfrm>
            <a:off x="1028700" y="1204677"/>
            <a:ext cx="16230600" cy="8252061"/>
            <a:chOff x="0" y="0"/>
            <a:chExt cx="4274726" cy="2173382"/>
          </a:xfrm>
        </p:grpSpPr>
        <p:sp>
          <p:nvSpPr>
            <p:cNvPr id="5" name="Freeform 5"/>
            <p:cNvSpPr/>
            <p:nvPr/>
          </p:nvSpPr>
          <p:spPr>
            <a:xfrm>
              <a:off x="0" y="0"/>
              <a:ext cx="4274726" cy="2173382"/>
            </a:xfrm>
            <a:custGeom>
              <a:avLst/>
              <a:gdLst/>
              <a:ahLst/>
              <a:cxnLst/>
              <a:rect l="l" t="t" r="r" b="b"/>
              <a:pathLst>
                <a:path w="4274726" h="2173382">
                  <a:moveTo>
                    <a:pt x="24327" y="0"/>
                  </a:moveTo>
                  <a:lnTo>
                    <a:pt x="4250399" y="0"/>
                  </a:lnTo>
                  <a:cubicBezTo>
                    <a:pt x="4263834" y="0"/>
                    <a:pt x="4274726" y="10891"/>
                    <a:pt x="4274726" y="24327"/>
                  </a:cubicBezTo>
                  <a:lnTo>
                    <a:pt x="4274726" y="2149055"/>
                  </a:lnTo>
                  <a:cubicBezTo>
                    <a:pt x="4274726" y="2155507"/>
                    <a:pt x="4272163" y="2161695"/>
                    <a:pt x="4267601" y="2166257"/>
                  </a:cubicBezTo>
                  <a:cubicBezTo>
                    <a:pt x="4263039" y="2170819"/>
                    <a:pt x="4256851" y="2173382"/>
                    <a:pt x="4250399" y="2173382"/>
                  </a:cubicBezTo>
                  <a:lnTo>
                    <a:pt x="24327" y="2173382"/>
                  </a:lnTo>
                  <a:cubicBezTo>
                    <a:pt x="10891" y="2173382"/>
                    <a:pt x="0" y="2162491"/>
                    <a:pt x="0" y="2149055"/>
                  </a:cubicBezTo>
                  <a:lnTo>
                    <a:pt x="0" y="24327"/>
                  </a:lnTo>
                  <a:cubicBezTo>
                    <a:pt x="0" y="10891"/>
                    <a:pt x="10891" y="0"/>
                    <a:pt x="24327" y="0"/>
                  </a:cubicBezTo>
                  <a:close/>
                </a:path>
              </a:pathLst>
            </a:custGeom>
            <a:solidFill>
              <a:srgbClr val="FFFFFF"/>
            </a:solidFill>
            <a:ln w="142875" cap="rnd">
              <a:solidFill>
                <a:srgbClr val="FE9555"/>
              </a:solidFill>
              <a:prstDash val="solid"/>
              <a:round/>
            </a:ln>
          </p:spPr>
          <p:txBody>
            <a:bodyPr/>
            <a:lstStyle/>
            <a:p>
              <a:endParaRPr lang="en-US"/>
            </a:p>
          </p:txBody>
        </p:sp>
        <p:sp>
          <p:nvSpPr>
            <p:cNvPr id="6" name="TextBox 6"/>
            <p:cNvSpPr txBox="1"/>
            <p:nvPr/>
          </p:nvSpPr>
          <p:spPr>
            <a:xfrm>
              <a:off x="0" y="-47625"/>
              <a:ext cx="4274726" cy="2221007"/>
            </a:xfrm>
            <a:prstGeom prst="rect">
              <a:avLst/>
            </a:prstGeom>
          </p:spPr>
          <p:txBody>
            <a:bodyPr lIns="50800" tIns="50800" rIns="50800" bIns="50800" rtlCol="0" anchor="ctr"/>
            <a:lstStyle/>
            <a:p>
              <a:pPr algn="ctr">
                <a:lnSpc>
                  <a:spcPts val="3219"/>
                </a:lnSpc>
              </a:pPr>
              <a:r>
                <a:rPr lang="en-US" sz="2299">
                  <a:solidFill>
                    <a:srgbClr val="FE9555"/>
                  </a:solidFill>
                  <a:latin typeface="Open Sans 1"/>
                  <a:ea typeface="Open Sans 1"/>
                  <a:cs typeface="Open Sans 1"/>
                  <a:sym typeface="Open Sans 1"/>
                </a:rPr>
                <a:t>​</a:t>
              </a:r>
            </a:p>
            <a:p>
              <a:pPr algn="ctr">
                <a:lnSpc>
                  <a:spcPts val="3219"/>
                </a:lnSpc>
              </a:pPr>
              <a:r>
                <a:rPr lang="en-US" sz="2299">
                  <a:solidFill>
                    <a:srgbClr val="FE9555"/>
                  </a:solidFill>
                  <a:latin typeface="Open Sans 1"/>
                  <a:ea typeface="Open Sans 1"/>
                  <a:cs typeface="Open Sans 1"/>
                  <a:sym typeface="Open Sans 1"/>
                </a:rPr>
                <a:t>​</a:t>
              </a:r>
            </a:p>
            <a:p>
              <a:pPr algn="ctr">
                <a:lnSpc>
                  <a:spcPts val="3219"/>
                </a:lnSpc>
              </a:pPr>
              <a:endParaRPr lang="en-US" sz="2299">
                <a:solidFill>
                  <a:srgbClr val="FE9555"/>
                </a:solidFill>
                <a:latin typeface="Open Sans 1"/>
                <a:ea typeface="Open Sans 1"/>
                <a:cs typeface="Open Sans 1"/>
                <a:sym typeface="Open Sans 1"/>
              </a:endParaRPr>
            </a:p>
            <a:p>
              <a:pPr algn="ctr">
                <a:lnSpc>
                  <a:spcPts val="2240"/>
                </a:lnSpc>
                <a:spcBef>
                  <a:spcPct val="0"/>
                </a:spcBef>
              </a:pPr>
              <a:endParaRPr lang="en-US" sz="2299">
                <a:solidFill>
                  <a:srgbClr val="FE9555"/>
                </a:solidFill>
                <a:latin typeface="Open Sans 1"/>
                <a:ea typeface="Open Sans 1"/>
                <a:cs typeface="Open Sans 1"/>
                <a:sym typeface="Open Sans 1"/>
              </a:endParaRPr>
            </a:p>
          </p:txBody>
        </p:sp>
      </p:grpSp>
      <p:sp>
        <p:nvSpPr>
          <p:cNvPr id="7" name="Freeform 7"/>
          <p:cNvSpPr/>
          <p:nvPr/>
        </p:nvSpPr>
        <p:spPr>
          <a:xfrm>
            <a:off x="14618449" y="-189779"/>
            <a:ext cx="3669551" cy="1582494"/>
          </a:xfrm>
          <a:custGeom>
            <a:avLst/>
            <a:gdLst/>
            <a:ahLst/>
            <a:cxnLst/>
            <a:rect l="l" t="t" r="r" b="b"/>
            <a:pathLst>
              <a:path w="3669551" h="1582494">
                <a:moveTo>
                  <a:pt x="0" y="0"/>
                </a:moveTo>
                <a:lnTo>
                  <a:pt x="3669551" y="0"/>
                </a:lnTo>
                <a:lnTo>
                  <a:pt x="3669551" y="1582494"/>
                </a:lnTo>
                <a:lnTo>
                  <a:pt x="0" y="1582494"/>
                </a:lnTo>
                <a:lnTo>
                  <a:pt x="0" y="0"/>
                </a:lnTo>
                <a:close/>
              </a:path>
            </a:pathLst>
          </a:custGeom>
          <a:blipFill>
            <a:blip r:embed="rId6"/>
            <a:stretch>
              <a:fillRect/>
            </a:stretch>
          </a:blipFill>
        </p:spPr>
        <p:txBody>
          <a:bodyPr/>
          <a:lstStyle/>
          <a:p>
            <a:endParaRPr lang="en-US"/>
          </a:p>
        </p:txBody>
      </p:sp>
      <p:sp>
        <p:nvSpPr>
          <p:cNvPr id="8" name="Freeform 8"/>
          <p:cNvSpPr/>
          <p:nvPr/>
        </p:nvSpPr>
        <p:spPr>
          <a:xfrm>
            <a:off x="3229917" y="-189779"/>
            <a:ext cx="3838021" cy="1588941"/>
          </a:xfrm>
          <a:custGeom>
            <a:avLst/>
            <a:gdLst/>
            <a:ahLst/>
            <a:cxnLst/>
            <a:rect l="l" t="t" r="r" b="b"/>
            <a:pathLst>
              <a:path w="3838021" h="1588941">
                <a:moveTo>
                  <a:pt x="0" y="0"/>
                </a:moveTo>
                <a:lnTo>
                  <a:pt x="3838021" y="0"/>
                </a:lnTo>
                <a:lnTo>
                  <a:pt x="3838021" y="1588941"/>
                </a:lnTo>
                <a:lnTo>
                  <a:pt x="0" y="1588941"/>
                </a:lnTo>
                <a:lnTo>
                  <a:pt x="0" y="0"/>
                </a:lnTo>
                <a:close/>
              </a:path>
            </a:pathLst>
          </a:custGeom>
          <a:blipFill>
            <a:blip r:embed="rId7"/>
            <a:stretch>
              <a:fillRect/>
            </a:stretch>
          </a:blipFill>
        </p:spPr>
        <p:txBody>
          <a:bodyPr/>
          <a:lstStyle/>
          <a:p>
            <a:endParaRPr lang="en-US"/>
          </a:p>
        </p:txBody>
      </p:sp>
      <p:sp>
        <p:nvSpPr>
          <p:cNvPr id="9" name="Freeform 9"/>
          <p:cNvSpPr/>
          <p:nvPr/>
        </p:nvSpPr>
        <p:spPr>
          <a:xfrm>
            <a:off x="2854836" y="2739594"/>
            <a:ext cx="11763613" cy="5881806"/>
          </a:xfrm>
          <a:custGeom>
            <a:avLst/>
            <a:gdLst/>
            <a:ahLst/>
            <a:cxnLst/>
            <a:rect l="l" t="t" r="r" b="b"/>
            <a:pathLst>
              <a:path w="11763613" h="5881806">
                <a:moveTo>
                  <a:pt x="0" y="0"/>
                </a:moveTo>
                <a:lnTo>
                  <a:pt x="11763613" y="0"/>
                </a:lnTo>
                <a:lnTo>
                  <a:pt x="11763613" y="5881807"/>
                </a:lnTo>
                <a:lnTo>
                  <a:pt x="0" y="5881807"/>
                </a:lnTo>
                <a:lnTo>
                  <a:pt x="0" y="0"/>
                </a:lnTo>
                <a:close/>
              </a:path>
            </a:pathLst>
          </a:custGeom>
          <a:blipFill>
            <a:blip r:embed="rId8"/>
            <a:stretch>
              <a:fillRect/>
            </a:stretch>
          </a:blipFill>
        </p:spPr>
        <p:txBody>
          <a:bodyPr/>
          <a:lstStyle/>
          <a:p>
            <a:endParaRPr lang="en-US"/>
          </a:p>
        </p:txBody>
      </p:sp>
      <p:sp>
        <p:nvSpPr>
          <p:cNvPr id="10" name="TextBox 10"/>
          <p:cNvSpPr txBox="1"/>
          <p:nvPr/>
        </p:nvSpPr>
        <p:spPr>
          <a:xfrm>
            <a:off x="3927318" y="1846219"/>
            <a:ext cx="9618649" cy="670989"/>
          </a:xfrm>
          <a:prstGeom prst="rect">
            <a:avLst/>
          </a:prstGeom>
        </p:spPr>
        <p:txBody>
          <a:bodyPr lIns="0" tIns="0" rIns="0" bIns="0" rtlCol="0" anchor="t">
            <a:spAutoFit/>
          </a:bodyPr>
          <a:lstStyle/>
          <a:p>
            <a:pPr algn="ctr">
              <a:lnSpc>
                <a:spcPts val="5541"/>
              </a:lnSpc>
            </a:pPr>
            <a:r>
              <a:rPr lang="en-US" sz="3958" b="1">
                <a:solidFill>
                  <a:srgbClr val="FF914D"/>
                </a:solidFill>
                <a:latin typeface="Open Sans 2 Bold"/>
                <a:ea typeface="Open Sans 2 Bold"/>
                <a:cs typeface="Open Sans 2 Bold"/>
                <a:sym typeface="Open Sans 2 Bold"/>
              </a:rPr>
              <a:t>Training Phase(cont)​</a:t>
            </a:r>
          </a:p>
        </p:txBody>
      </p:sp>
      <p:sp>
        <p:nvSpPr>
          <p:cNvPr id="11" name="Freeform 11"/>
          <p:cNvSpPr/>
          <p:nvPr/>
        </p:nvSpPr>
        <p:spPr>
          <a:xfrm>
            <a:off x="15123274" y="1432283"/>
            <a:ext cx="1869751" cy="1575063"/>
          </a:xfrm>
          <a:custGeom>
            <a:avLst/>
            <a:gdLst/>
            <a:ahLst/>
            <a:cxnLst/>
            <a:rect l="l" t="t" r="r" b="b"/>
            <a:pathLst>
              <a:path w="1869751" h="1575063">
                <a:moveTo>
                  <a:pt x="0" y="0"/>
                </a:moveTo>
                <a:lnTo>
                  <a:pt x="1869751" y="0"/>
                </a:lnTo>
                <a:lnTo>
                  <a:pt x="1869751" y="1575062"/>
                </a:lnTo>
                <a:lnTo>
                  <a:pt x="0" y="1575062"/>
                </a:lnTo>
                <a:lnTo>
                  <a:pt x="0" y="0"/>
                </a:lnTo>
                <a:close/>
              </a:path>
            </a:pathLst>
          </a:custGeom>
          <a:blipFill>
            <a:blip r:embed="rId9"/>
            <a:stretch>
              <a:fillRect t="-7429" b="-11280"/>
            </a:stretch>
          </a:blipFill>
        </p:spPr>
        <p:txBody>
          <a:bodyPr/>
          <a:lstStyle/>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E6D3"/>
        </a:solidFill>
        <a:effectLst/>
      </p:bgPr>
    </p:bg>
    <p:spTree>
      <p:nvGrpSpPr>
        <p:cNvPr id="1" name=""/>
        <p:cNvGrpSpPr/>
        <p:nvPr/>
      </p:nvGrpSpPr>
      <p:grpSpPr>
        <a:xfrm>
          <a:off x="0" y="0"/>
          <a:ext cx="0" cy="0"/>
          <a:chOff x="0" y="0"/>
          <a:chExt cx="0" cy="0"/>
        </a:xfrm>
      </p:grpSpPr>
      <p:sp>
        <p:nvSpPr>
          <p:cNvPr id="2" name="Freeform 2"/>
          <p:cNvSpPr/>
          <p:nvPr/>
        </p:nvSpPr>
        <p:spPr>
          <a:xfrm>
            <a:off x="0" y="7201366"/>
            <a:ext cx="3421570" cy="3085634"/>
          </a:xfrm>
          <a:custGeom>
            <a:avLst/>
            <a:gdLst/>
            <a:ahLst/>
            <a:cxnLst/>
            <a:rect l="l" t="t" r="r" b="b"/>
            <a:pathLst>
              <a:path w="3421570" h="3085634">
                <a:moveTo>
                  <a:pt x="0" y="0"/>
                </a:moveTo>
                <a:lnTo>
                  <a:pt x="3421570" y="0"/>
                </a:lnTo>
                <a:lnTo>
                  <a:pt x="3421570" y="3085634"/>
                </a:lnTo>
                <a:lnTo>
                  <a:pt x="0" y="30856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flipH="1" flipV="1">
            <a:off x="14866430" y="0"/>
            <a:ext cx="3421570" cy="3085634"/>
          </a:xfrm>
          <a:custGeom>
            <a:avLst/>
            <a:gdLst/>
            <a:ahLst/>
            <a:cxnLst/>
            <a:rect l="l" t="t" r="r" b="b"/>
            <a:pathLst>
              <a:path w="3421570" h="3085634">
                <a:moveTo>
                  <a:pt x="3421570" y="3085634"/>
                </a:moveTo>
                <a:lnTo>
                  <a:pt x="0" y="3085634"/>
                </a:lnTo>
                <a:lnTo>
                  <a:pt x="0" y="0"/>
                </a:lnTo>
                <a:lnTo>
                  <a:pt x="3421570" y="0"/>
                </a:lnTo>
                <a:lnTo>
                  <a:pt x="3421570" y="3085634"/>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4" name="Group 4"/>
          <p:cNvGrpSpPr/>
          <p:nvPr/>
        </p:nvGrpSpPr>
        <p:grpSpPr>
          <a:xfrm>
            <a:off x="1827173" y="959822"/>
            <a:ext cx="14750042" cy="7784361"/>
            <a:chOff x="0" y="0"/>
            <a:chExt cx="3884785" cy="2050202"/>
          </a:xfrm>
        </p:grpSpPr>
        <p:sp>
          <p:nvSpPr>
            <p:cNvPr id="5" name="Freeform 5"/>
            <p:cNvSpPr/>
            <p:nvPr/>
          </p:nvSpPr>
          <p:spPr>
            <a:xfrm>
              <a:off x="0" y="0"/>
              <a:ext cx="3884785" cy="2050202"/>
            </a:xfrm>
            <a:custGeom>
              <a:avLst/>
              <a:gdLst/>
              <a:ahLst/>
              <a:cxnLst/>
              <a:rect l="l" t="t" r="r" b="b"/>
              <a:pathLst>
                <a:path w="3884785" h="2050202">
                  <a:moveTo>
                    <a:pt x="26769" y="0"/>
                  </a:moveTo>
                  <a:lnTo>
                    <a:pt x="3858016" y="0"/>
                  </a:lnTo>
                  <a:cubicBezTo>
                    <a:pt x="3872800" y="0"/>
                    <a:pt x="3884785" y="11985"/>
                    <a:pt x="3884785" y="26769"/>
                  </a:cubicBezTo>
                  <a:lnTo>
                    <a:pt x="3884785" y="2023434"/>
                  </a:lnTo>
                  <a:cubicBezTo>
                    <a:pt x="3884785" y="2030533"/>
                    <a:pt x="3881965" y="2037342"/>
                    <a:pt x="3876945" y="2042362"/>
                  </a:cubicBezTo>
                  <a:cubicBezTo>
                    <a:pt x="3871925" y="2047382"/>
                    <a:pt x="3865116" y="2050202"/>
                    <a:pt x="3858016" y="2050202"/>
                  </a:cubicBezTo>
                  <a:lnTo>
                    <a:pt x="26769" y="2050202"/>
                  </a:lnTo>
                  <a:cubicBezTo>
                    <a:pt x="11985" y="2050202"/>
                    <a:pt x="0" y="2038217"/>
                    <a:pt x="0" y="2023434"/>
                  </a:cubicBezTo>
                  <a:lnTo>
                    <a:pt x="0" y="26769"/>
                  </a:lnTo>
                  <a:cubicBezTo>
                    <a:pt x="0" y="19669"/>
                    <a:pt x="2820" y="12860"/>
                    <a:pt x="7840" y="7840"/>
                  </a:cubicBezTo>
                  <a:cubicBezTo>
                    <a:pt x="12860" y="2820"/>
                    <a:pt x="19669" y="0"/>
                    <a:pt x="26769" y="0"/>
                  </a:cubicBezTo>
                  <a:close/>
                </a:path>
              </a:pathLst>
            </a:custGeom>
            <a:solidFill>
              <a:srgbClr val="FFFFFF"/>
            </a:solidFill>
            <a:ln w="142875" cap="rnd">
              <a:solidFill>
                <a:srgbClr val="FF914D"/>
              </a:solidFill>
              <a:prstDash val="solid"/>
              <a:round/>
            </a:ln>
          </p:spPr>
          <p:txBody>
            <a:bodyPr/>
            <a:lstStyle/>
            <a:p>
              <a:endParaRPr lang="en-US"/>
            </a:p>
          </p:txBody>
        </p:sp>
        <p:sp>
          <p:nvSpPr>
            <p:cNvPr id="6" name="TextBox 6"/>
            <p:cNvSpPr txBox="1"/>
            <p:nvPr/>
          </p:nvSpPr>
          <p:spPr>
            <a:xfrm>
              <a:off x="0" y="-28575"/>
              <a:ext cx="3884785" cy="2078777"/>
            </a:xfrm>
            <a:prstGeom prst="rect">
              <a:avLst/>
            </a:prstGeom>
          </p:spPr>
          <p:txBody>
            <a:bodyPr lIns="50800" tIns="50800" rIns="50800" bIns="50800" rtlCol="0" anchor="ctr"/>
            <a:lstStyle/>
            <a:p>
              <a:pPr algn="ctr">
                <a:lnSpc>
                  <a:spcPts val="2659"/>
                </a:lnSpc>
                <a:spcBef>
                  <a:spcPct val="0"/>
                </a:spcBef>
              </a:pPr>
              <a:endParaRPr/>
            </a:p>
          </p:txBody>
        </p:sp>
      </p:grpSp>
      <p:sp>
        <p:nvSpPr>
          <p:cNvPr id="7" name="TextBox 7"/>
          <p:cNvSpPr txBox="1"/>
          <p:nvPr/>
        </p:nvSpPr>
        <p:spPr>
          <a:xfrm>
            <a:off x="5043571" y="952500"/>
            <a:ext cx="7834600" cy="2062320"/>
          </a:xfrm>
          <a:prstGeom prst="rect">
            <a:avLst/>
          </a:prstGeom>
        </p:spPr>
        <p:txBody>
          <a:bodyPr lIns="0" tIns="0" rIns="0" bIns="0" rtlCol="0" anchor="t">
            <a:spAutoFit/>
          </a:bodyPr>
          <a:lstStyle/>
          <a:p>
            <a:pPr algn="ctr">
              <a:lnSpc>
                <a:spcPts val="5503"/>
              </a:lnSpc>
            </a:pPr>
            <a:r>
              <a:rPr lang="en-US" sz="3931" b="1" spc="-78">
                <a:solidFill>
                  <a:srgbClr val="FF914D"/>
                </a:solidFill>
                <a:latin typeface="Open Sans 2 Bold"/>
                <a:ea typeface="Open Sans 2 Bold"/>
                <a:cs typeface="Open Sans 2 Bold"/>
                <a:sym typeface="Open Sans 2 Bold"/>
              </a:rPr>
              <a:t>​</a:t>
            </a:r>
          </a:p>
          <a:p>
            <a:pPr algn="ctr">
              <a:lnSpc>
                <a:spcPts val="5503"/>
              </a:lnSpc>
            </a:pPr>
            <a:r>
              <a:rPr lang="en-US" sz="3931" b="1" spc="-78">
                <a:solidFill>
                  <a:srgbClr val="FF914D"/>
                </a:solidFill>
                <a:latin typeface="Open Sans 2 Bold"/>
                <a:ea typeface="Open Sans 2 Bold"/>
                <a:cs typeface="Open Sans 2 Bold"/>
                <a:sym typeface="Open Sans 2 Bold"/>
              </a:rPr>
              <a:t>​</a:t>
            </a:r>
          </a:p>
          <a:p>
            <a:pPr algn="ctr">
              <a:lnSpc>
                <a:spcPts val="5503"/>
              </a:lnSpc>
            </a:pPr>
            <a:r>
              <a:rPr lang="en-US" sz="3931" b="1" spc="-78">
                <a:solidFill>
                  <a:srgbClr val="FF914D"/>
                </a:solidFill>
                <a:latin typeface="Open Sans 2 Bold"/>
                <a:ea typeface="Open Sans 2 Bold"/>
                <a:cs typeface="Open Sans 2 Bold"/>
                <a:sym typeface="Open Sans 2 Bold"/>
              </a:rPr>
              <a:t>Testing &amp; Results​</a:t>
            </a:r>
          </a:p>
        </p:txBody>
      </p:sp>
      <p:sp>
        <p:nvSpPr>
          <p:cNvPr id="8" name="TextBox 8"/>
          <p:cNvSpPr txBox="1"/>
          <p:nvPr/>
        </p:nvSpPr>
        <p:spPr>
          <a:xfrm>
            <a:off x="2350511" y="2751830"/>
            <a:ext cx="13433078" cy="4274820"/>
          </a:xfrm>
          <a:prstGeom prst="rect">
            <a:avLst/>
          </a:prstGeom>
        </p:spPr>
        <p:txBody>
          <a:bodyPr lIns="0" tIns="0" rIns="0" bIns="0" rtlCol="0" anchor="t">
            <a:spAutoFit/>
          </a:bodyPr>
          <a:lstStyle/>
          <a:p>
            <a:pPr algn="ctr">
              <a:lnSpc>
                <a:spcPts val="3780"/>
              </a:lnSpc>
            </a:pPr>
            <a:r>
              <a:rPr lang="en-US" sz="2700">
                <a:solidFill>
                  <a:srgbClr val="FF914D"/>
                </a:solidFill>
                <a:latin typeface="Open Sans 2"/>
                <a:ea typeface="Open Sans 2"/>
                <a:cs typeface="Open Sans 2"/>
                <a:sym typeface="Open Sans 2"/>
              </a:rPr>
              <a:t>​</a:t>
            </a:r>
          </a:p>
          <a:p>
            <a:pPr algn="ctr">
              <a:lnSpc>
                <a:spcPts val="3780"/>
              </a:lnSpc>
            </a:pPr>
            <a:r>
              <a:rPr lang="en-US" sz="2700">
                <a:solidFill>
                  <a:srgbClr val="FF914D"/>
                </a:solidFill>
                <a:latin typeface="Open Sans 2"/>
                <a:ea typeface="Open Sans 2"/>
                <a:cs typeface="Open Sans 2"/>
                <a:sym typeface="Open Sans 2"/>
              </a:rPr>
              <a:t>​</a:t>
            </a:r>
          </a:p>
          <a:p>
            <a:pPr algn="ctr">
              <a:lnSpc>
                <a:spcPts val="3780"/>
              </a:lnSpc>
            </a:pPr>
            <a:r>
              <a:rPr lang="en-US" sz="2700">
                <a:solidFill>
                  <a:srgbClr val="FF914D"/>
                </a:solidFill>
                <a:latin typeface="Open Sans 2"/>
                <a:ea typeface="Open Sans 2"/>
                <a:cs typeface="Open Sans 2"/>
                <a:sym typeface="Open Sans 2"/>
              </a:rPr>
              <a:t>After training, we tested the model on real image taken from real life.​</a:t>
            </a:r>
          </a:p>
          <a:p>
            <a:pPr algn="ctr">
              <a:lnSpc>
                <a:spcPts val="3780"/>
              </a:lnSpc>
            </a:pPr>
            <a:r>
              <a:rPr lang="en-US" sz="2700">
                <a:solidFill>
                  <a:srgbClr val="FF914D"/>
                </a:solidFill>
                <a:latin typeface="Open Sans 2"/>
                <a:ea typeface="Open Sans 2"/>
                <a:cs typeface="Open Sans 2"/>
                <a:sym typeface="Open Sans 2"/>
              </a:rPr>
              <a:t>We also flew the Tello drone again to test the model in real-world​</a:t>
            </a:r>
          </a:p>
          <a:p>
            <a:pPr algn="ctr">
              <a:lnSpc>
                <a:spcPts val="3780"/>
              </a:lnSpc>
            </a:pPr>
            <a:r>
              <a:rPr lang="en-US" sz="2700">
                <a:solidFill>
                  <a:srgbClr val="FF914D"/>
                </a:solidFill>
                <a:latin typeface="Open Sans 2"/>
                <a:ea typeface="Open Sans 2"/>
                <a:cs typeface="Open Sans 2"/>
                <a:sym typeface="Open Sans 2"/>
              </a:rPr>
              <a:t>scenarios.​</a:t>
            </a:r>
          </a:p>
          <a:p>
            <a:pPr algn="ctr">
              <a:lnSpc>
                <a:spcPts val="3780"/>
              </a:lnSpc>
            </a:pPr>
            <a:r>
              <a:rPr lang="en-US" sz="2700">
                <a:solidFill>
                  <a:srgbClr val="FF914D"/>
                </a:solidFill>
                <a:latin typeface="Open Sans 2"/>
                <a:ea typeface="Open Sans 2"/>
                <a:cs typeface="Open Sans 2"/>
                <a:sym typeface="Open Sans 2"/>
              </a:rPr>
              <a:t>The model gave great potential results — with 99% precision, 64% recall,​</a:t>
            </a:r>
          </a:p>
          <a:p>
            <a:pPr algn="ctr">
              <a:lnSpc>
                <a:spcPts val="3780"/>
              </a:lnSpc>
            </a:pPr>
            <a:r>
              <a:rPr lang="en-US" sz="2700">
                <a:solidFill>
                  <a:srgbClr val="FF914D"/>
                </a:solidFill>
                <a:latin typeface="Open Sans 2"/>
                <a:ea typeface="Open Sans 2"/>
                <a:cs typeface="Open Sans 2"/>
                <a:sym typeface="Open Sans 2"/>
              </a:rPr>
              <a:t>and a mean average precision of 75%.​</a:t>
            </a:r>
          </a:p>
          <a:p>
            <a:pPr algn="ctr">
              <a:lnSpc>
                <a:spcPts val="3780"/>
              </a:lnSpc>
            </a:pPr>
            <a:r>
              <a:rPr lang="en-US" sz="2700">
                <a:solidFill>
                  <a:srgbClr val="FF914D"/>
                </a:solidFill>
                <a:latin typeface="Open Sans 2"/>
                <a:ea typeface="Open Sans 2"/>
                <a:cs typeface="Open Sans 2"/>
                <a:sym typeface="Open Sans 2"/>
              </a:rPr>
              <a:t>It successfully detected and classified parking spots in real-time during drone flights.​</a:t>
            </a:r>
          </a:p>
          <a:p>
            <a:pPr algn="ctr">
              <a:lnSpc>
                <a:spcPts val="3780"/>
              </a:lnSpc>
            </a:pPr>
            <a:endParaRPr lang="en-US" sz="2700">
              <a:solidFill>
                <a:srgbClr val="FF914D"/>
              </a:solidFill>
              <a:latin typeface="Open Sans 2"/>
              <a:ea typeface="Open Sans 2"/>
              <a:cs typeface="Open Sans 2"/>
              <a:sym typeface="Open Sans 2"/>
            </a:endParaRPr>
          </a:p>
        </p:txBody>
      </p:sp>
      <p:sp>
        <p:nvSpPr>
          <p:cNvPr id="9" name="Freeform 9"/>
          <p:cNvSpPr/>
          <p:nvPr/>
        </p:nvSpPr>
        <p:spPr>
          <a:xfrm>
            <a:off x="13710183" y="1542817"/>
            <a:ext cx="2312493" cy="1948025"/>
          </a:xfrm>
          <a:custGeom>
            <a:avLst/>
            <a:gdLst/>
            <a:ahLst/>
            <a:cxnLst/>
            <a:rect l="l" t="t" r="r" b="b"/>
            <a:pathLst>
              <a:path w="2312493" h="1948025">
                <a:moveTo>
                  <a:pt x="0" y="0"/>
                </a:moveTo>
                <a:lnTo>
                  <a:pt x="2312494" y="0"/>
                </a:lnTo>
                <a:lnTo>
                  <a:pt x="2312494" y="1948025"/>
                </a:lnTo>
                <a:lnTo>
                  <a:pt x="0" y="1948025"/>
                </a:lnTo>
                <a:lnTo>
                  <a:pt x="0" y="0"/>
                </a:lnTo>
                <a:close/>
              </a:path>
            </a:pathLst>
          </a:custGeom>
          <a:blipFill>
            <a:blip r:embed="rId4"/>
            <a:stretch>
              <a:fillRect t="-7429" b="-11280"/>
            </a:stretch>
          </a:blipFill>
        </p:spPr>
        <p:txBody>
          <a:bodyPr/>
          <a:lstStyle/>
          <a:p>
            <a:endParaRPr lang="en-US"/>
          </a:p>
        </p:txBody>
      </p:sp>
      <p:sp>
        <p:nvSpPr>
          <p:cNvPr id="10" name="Freeform 10"/>
          <p:cNvSpPr/>
          <p:nvPr/>
        </p:nvSpPr>
        <p:spPr>
          <a:xfrm>
            <a:off x="11510577" y="-412547"/>
            <a:ext cx="3669551" cy="1582494"/>
          </a:xfrm>
          <a:custGeom>
            <a:avLst/>
            <a:gdLst/>
            <a:ahLst/>
            <a:cxnLst/>
            <a:rect l="l" t="t" r="r" b="b"/>
            <a:pathLst>
              <a:path w="3669551" h="1582494">
                <a:moveTo>
                  <a:pt x="0" y="0"/>
                </a:moveTo>
                <a:lnTo>
                  <a:pt x="3669551" y="0"/>
                </a:lnTo>
                <a:lnTo>
                  <a:pt x="3669551" y="1582494"/>
                </a:lnTo>
                <a:lnTo>
                  <a:pt x="0" y="1582494"/>
                </a:lnTo>
                <a:lnTo>
                  <a:pt x="0" y="0"/>
                </a:lnTo>
                <a:close/>
              </a:path>
            </a:pathLst>
          </a:custGeom>
          <a:blipFill>
            <a:blip r:embed="rId5"/>
            <a:stretch>
              <a:fillRect/>
            </a:stretch>
          </a:blipFill>
        </p:spPr>
        <p:txBody>
          <a:bodyPr/>
          <a:lstStyle/>
          <a:p>
            <a:endParaRPr lang="en-US"/>
          </a:p>
        </p:txBody>
      </p:sp>
      <p:sp>
        <p:nvSpPr>
          <p:cNvPr id="11" name="Freeform 11"/>
          <p:cNvSpPr/>
          <p:nvPr/>
        </p:nvSpPr>
        <p:spPr>
          <a:xfrm>
            <a:off x="3222689" y="-236363"/>
            <a:ext cx="3055708" cy="1265063"/>
          </a:xfrm>
          <a:custGeom>
            <a:avLst/>
            <a:gdLst/>
            <a:ahLst/>
            <a:cxnLst/>
            <a:rect l="l" t="t" r="r" b="b"/>
            <a:pathLst>
              <a:path w="3055708" h="1265063">
                <a:moveTo>
                  <a:pt x="0" y="0"/>
                </a:moveTo>
                <a:lnTo>
                  <a:pt x="3055708" y="0"/>
                </a:lnTo>
                <a:lnTo>
                  <a:pt x="3055708" y="1265063"/>
                </a:lnTo>
                <a:lnTo>
                  <a:pt x="0" y="1265063"/>
                </a:lnTo>
                <a:lnTo>
                  <a:pt x="0" y="0"/>
                </a:lnTo>
                <a:close/>
              </a:path>
            </a:pathLst>
          </a:custGeom>
          <a:blipFill>
            <a:blip r:embed="rId6"/>
            <a:stretch>
              <a:fillRect/>
            </a:stretch>
          </a:blipFill>
        </p:spPr>
        <p:txBody>
          <a:bodyPr/>
          <a:lstStyle/>
          <a:p>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E6D3"/>
        </a:solidFill>
        <a:effectLst/>
      </p:bgPr>
    </p:bg>
    <p:spTree>
      <p:nvGrpSpPr>
        <p:cNvPr id="1" name=""/>
        <p:cNvGrpSpPr/>
        <p:nvPr/>
      </p:nvGrpSpPr>
      <p:grpSpPr>
        <a:xfrm>
          <a:off x="0" y="0"/>
          <a:ext cx="0" cy="0"/>
          <a:chOff x="0" y="0"/>
          <a:chExt cx="0" cy="0"/>
        </a:xfrm>
      </p:grpSpPr>
      <p:sp>
        <p:nvSpPr>
          <p:cNvPr id="2" name="Freeform 2"/>
          <p:cNvSpPr/>
          <p:nvPr/>
        </p:nvSpPr>
        <p:spPr>
          <a:xfrm flipV="1">
            <a:off x="0" y="0"/>
            <a:ext cx="3120887" cy="4114800"/>
          </a:xfrm>
          <a:custGeom>
            <a:avLst/>
            <a:gdLst/>
            <a:ahLst/>
            <a:cxnLst/>
            <a:rect l="l" t="t" r="r" b="b"/>
            <a:pathLst>
              <a:path w="3120887" h="4114800">
                <a:moveTo>
                  <a:pt x="0" y="4114800"/>
                </a:moveTo>
                <a:lnTo>
                  <a:pt x="3120887" y="4114800"/>
                </a:lnTo>
                <a:lnTo>
                  <a:pt x="3120887" y="0"/>
                </a:lnTo>
                <a:lnTo>
                  <a:pt x="0" y="0"/>
                </a:lnTo>
                <a:lnTo>
                  <a:pt x="0" y="411480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3" name="Freeform 3"/>
          <p:cNvSpPr/>
          <p:nvPr/>
        </p:nvSpPr>
        <p:spPr>
          <a:xfrm flipH="1">
            <a:off x="15167113" y="6172200"/>
            <a:ext cx="3120887" cy="4114800"/>
          </a:xfrm>
          <a:custGeom>
            <a:avLst/>
            <a:gdLst/>
            <a:ahLst/>
            <a:cxnLst/>
            <a:rect l="l" t="t" r="r" b="b"/>
            <a:pathLst>
              <a:path w="3120887" h="4114800">
                <a:moveTo>
                  <a:pt x="3120887" y="0"/>
                </a:moveTo>
                <a:lnTo>
                  <a:pt x="0" y="0"/>
                </a:lnTo>
                <a:lnTo>
                  <a:pt x="0" y="4114800"/>
                </a:lnTo>
                <a:lnTo>
                  <a:pt x="3120887" y="4114800"/>
                </a:lnTo>
                <a:lnTo>
                  <a:pt x="3120887"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grpSp>
        <p:nvGrpSpPr>
          <p:cNvPr id="4" name="Group 4"/>
          <p:cNvGrpSpPr/>
          <p:nvPr/>
        </p:nvGrpSpPr>
        <p:grpSpPr>
          <a:xfrm>
            <a:off x="1028700" y="1204677"/>
            <a:ext cx="16230600" cy="8252061"/>
            <a:chOff x="0" y="0"/>
            <a:chExt cx="4274726" cy="2173382"/>
          </a:xfrm>
        </p:grpSpPr>
        <p:sp>
          <p:nvSpPr>
            <p:cNvPr id="5" name="Freeform 5"/>
            <p:cNvSpPr/>
            <p:nvPr/>
          </p:nvSpPr>
          <p:spPr>
            <a:xfrm>
              <a:off x="0" y="0"/>
              <a:ext cx="4274726" cy="2173382"/>
            </a:xfrm>
            <a:custGeom>
              <a:avLst/>
              <a:gdLst/>
              <a:ahLst/>
              <a:cxnLst/>
              <a:rect l="l" t="t" r="r" b="b"/>
              <a:pathLst>
                <a:path w="4274726" h="2173382">
                  <a:moveTo>
                    <a:pt x="24327" y="0"/>
                  </a:moveTo>
                  <a:lnTo>
                    <a:pt x="4250399" y="0"/>
                  </a:lnTo>
                  <a:cubicBezTo>
                    <a:pt x="4263834" y="0"/>
                    <a:pt x="4274726" y="10891"/>
                    <a:pt x="4274726" y="24327"/>
                  </a:cubicBezTo>
                  <a:lnTo>
                    <a:pt x="4274726" y="2149055"/>
                  </a:lnTo>
                  <a:cubicBezTo>
                    <a:pt x="4274726" y="2155507"/>
                    <a:pt x="4272163" y="2161695"/>
                    <a:pt x="4267601" y="2166257"/>
                  </a:cubicBezTo>
                  <a:cubicBezTo>
                    <a:pt x="4263039" y="2170819"/>
                    <a:pt x="4256851" y="2173382"/>
                    <a:pt x="4250399" y="2173382"/>
                  </a:cubicBezTo>
                  <a:lnTo>
                    <a:pt x="24327" y="2173382"/>
                  </a:lnTo>
                  <a:cubicBezTo>
                    <a:pt x="10891" y="2173382"/>
                    <a:pt x="0" y="2162491"/>
                    <a:pt x="0" y="2149055"/>
                  </a:cubicBezTo>
                  <a:lnTo>
                    <a:pt x="0" y="24327"/>
                  </a:lnTo>
                  <a:cubicBezTo>
                    <a:pt x="0" y="10891"/>
                    <a:pt x="10891" y="0"/>
                    <a:pt x="24327" y="0"/>
                  </a:cubicBezTo>
                  <a:close/>
                </a:path>
              </a:pathLst>
            </a:custGeom>
            <a:solidFill>
              <a:srgbClr val="FFFFFF"/>
            </a:solidFill>
            <a:ln w="142875" cap="rnd">
              <a:solidFill>
                <a:srgbClr val="FE9555"/>
              </a:solidFill>
              <a:prstDash val="solid"/>
              <a:round/>
            </a:ln>
          </p:spPr>
          <p:txBody>
            <a:bodyPr/>
            <a:lstStyle/>
            <a:p>
              <a:endParaRPr lang="en-US"/>
            </a:p>
          </p:txBody>
        </p:sp>
        <p:sp>
          <p:nvSpPr>
            <p:cNvPr id="6" name="TextBox 6"/>
            <p:cNvSpPr txBox="1"/>
            <p:nvPr/>
          </p:nvSpPr>
          <p:spPr>
            <a:xfrm>
              <a:off x="0" y="-47625"/>
              <a:ext cx="4274726" cy="2221007"/>
            </a:xfrm>
            <a:prstGeom prst="rect">
              <a:avLst/>
            </a:prstGeom>
          </p:spPr>
          <p:txBody>
            <a:bodyPr lIns="50800" tIns="50800" rIns="50800" bIns="50800" rtlCol="0" anchor="ctr"/>
            <a:lstStyle/>
            <a:p>
              <a:pPr algn="ctr">
                <a:lnSpc>
                  <a:spcPts val="3219"/>
                </a:lnSpc>
              </a:pPr>
              <a:r>
                <a:rPr lang="en-US" sz="2299">
                  <a:solidFill>
                    <a:srgbClr val="FE9555"/>
                  </a:solidFill>
                  <a:latin typeface="Open Sans 1"/>
                  <a:ea typeface="Open Sans 1"/>
                  <a:cs typeface="Open Sans 1"/>
                  <a:sym typeface="Open Sans 1"/>
                </a:rPr>
                <a:t>​</a:t>
              </a:r>
            </a:p>
            <a:p>
              <a:pPr algn="ctr">
                <a:lnSpc>
                  <a:spcPts val="3219"/>
                </a:lnSpc>
              </a:pPr>
              <a:r>
                <a:rPr lang="en-US" sz="2299">
                  <a:solidFill>
                    <a:srgbClr val="FE9555"/>
                  </a:solidFill>
                  <a:latin typeface="Open Sans 1"/>
                  <a:ea typeface="Open Sans 1"/>
                  <a:cs typeface="Open Sans 1"/>
                  <a:sym typeface="Open Sans 1"/>
                </a:rPr>
                <a:t>​</a:t>
              </a:r>
            </a:p>
            <a:p>
              <a:pPr algn="ctr">
                <a:lnSpc>
                  <a:spcPts val="3219"/>
                </a:lnSpc>
              </a:pPr>
              <a:endParaRPr lang="en-US" sz="2299">
                <a:solidFill>
                  <a:srgbClr val="FE9555"/>
                </a:solidFill>
                <a:latin typeface="Open Sans 1"/>
                <a:ea typeface="Open Sans 1"/>
                <a:cs typeface="Open Sans 1"/>
                <a:sym typeface="Open Sans 1"/>
              </a:endParaRPr>
            </a:p>
            <a:p>
              <a:pPr algn="ctr">
                <a:lnSpc>
                  <a:spcPts val="2240"/>
                </a:lnSpc>
                <a:spcBef>
                  <a:spcPct val="0"/>
                </a:spcBef>
              </a:pPr>
              <a:endParaRPr lang="en-US" sz="2299">
                <a:solidFill>
                  <a:srgbClr val="FE9555"/>
                </a:solidFill>
                <a:latin typeface="Open Sans 1"/>
                <a:ea typeface="Open Sans 1"/>
                <a:cs typeface="Open Sans 1"/>
                <a:sym typeface="Open Sans 1"/>
              </a:endParaRPr>
            </a:p>
          </p:txBody>
        </p:sp>
      </p:grpSp>
      <p:sp>
        <p:nvSpPr>
          <p:cNvPr id="7" name="Freeform 7"/>
          <p:cNvSpPr/>
          <p:nvPr/>
        </p:nvSpPr>
        <p:spPr>
          <a:xfrm>
            <a:off x="14618449" y="-189779"/>
            <a:ext cx="3669551" cy="1582494"/>
          </a:xfrm>
          <a:custGeom>
            <a:avLst/>
            <a:gdLst/>
            <a:ahLst/>
            <a:cxnLst/>
            <a:rect l="l" t="t" r="r" b="b"/>
            <a:pathLst>
              <a:path w="3669551" h="1582494">
                <a:moveTo>
                  <a:pt x="0" y="0"/>
                </a:moveTo>
                <a:lnTo>
                  <a:pt x="3669551" y="0"/>
                </a:lnTo>
                <a:lnTo>
                  <a:pt x="3669551" y="1582494"/>
                </a:lnTo>
                <a:lnTo>
                  <a:pt x="0" y="1582494"/>
                </a:lnTo>
                <a:lnTo>
                  <a:pt x="0" y="0"/>
                </a:lnTo>
                <a:close/>
              </a:path>
            </a:pathLst>
          </a:custGeom>
          <a:blipFill>
            <a:blip r:embed="rId8"/>
            <a:stretch>
              <a:fillRect/>
            </a:stretch>
          </a:blipFill>
        </p:spPr>
        <p:txBody>
          <a:bodyPr/>
          <a:lstStyle/>
          <a:p>
            <a:endParaRPr lang="en-US"/>
          </a:p>
        </p:txBody>
      </p:sp>
      <p:sp>
        <p:nvSpPr>
          <p:cNvPr id="8" name="Freeform 8"/>
          <p:cNvSpPr/>
          <p:nvPr/>
        </p:nvSpPr>
        <p:spPr>
          <a:xfrm>
            <a:off x="3229917" y="-189779"/>
            <a:ext cx="3838021" cy="1588941"/>
          </a:xfrm>
          <a:custGeom>
            <a:avLst/>
            <a:gdLst/>
            <a:ahLst/>
            <a:cxnLst/>
            <a:rect l="l" t="t" r="r" b="b"/>
            <a:pathLst>
              <a:path w="3838021" h="1588941">
                <a:moveTo>
                  <a:pt x="0" y="0"/>
                </a:moveTo>
                <a:lnTo>
                  <a:pt x="3838021" y="0"/>
                </a:lnTo>
                <a:lnTo>
                  <a:pt x="3838021" y="1588941"/>
                </a:lnTo>
                <a:lnTo>
                  <a:pt x="0" y="1588941"/>
                </a:lnTo>
                <a:lnTo>
                  <a:pt x="0" y="0"/>
                </a:lnTo>
                <a:close/>
              </a:path>
            </a:pathLst>
          </a:custGeom>
          <a:blipFill>
            <a:blip r:embed="rId9"/>
            <a:stretch>
              <a:fillRect/>
            </a:stretch>
          </a:blipFill>
        </p:spPr>
        <p:txBody>
          <a:bodyPr/>
          <a:lstStyle/>
          <a:p>
            <a:endParaRPr lang="en-US"/>
          </a:p>
        </p:txBody>
      </p:sp>
      <p:pic>
        <p:nvPicPr>
          <p:cNvPr id="9" name="Picture 9">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10"/>
          <a:srcRect t="9715" b="9715"/>
          <a:stretch>
            <a:fillRect/>
          </a:stretch>
        </p:blipFill>
        <p:spPr>
          <a:xfrm>
            <a:off x="3899706" y="2734578"/>
            <a:ext cx="10488589" cy="6337939"/>
          </a:xfrm>
          <a:prstGeom prst="rect">
            <a:avLst/>
          </a:prstGeom>
        </p:spPr>
      </p:pic>
      <p:sp>
        <p:nvSpPr>
          <p:cNvPr id="10" name="TextBox 10"/>
          <p:cNvSpPr txBox="1"/>
          <p:nvPr/>
        </p:nvSpPr>
        <p:spPr>
          <a:xfrm>
            <a:off x="4905687" y="1646699"/>
            <a:ext cx="8926828" cy="754617"/>
          </a:xfrm>
          <a:prstGeom prst="rect">
            <a:avLst/>
          </a:prstGeom>
        </p:spPr>
        <p:txBody>
          <a:bodyPr lIns="0" tIns="0" rIns="0" bIns="0" rtlCol="0" anchor="t">
            <a:spAutoFit/>
          </a:bodyPr>
          <a:lstStyle/>
          <a:p>
            <a:pPr algn="ctr">
              <a:lnSpc>
                <a:spcPts val="6181"/>
              </a:lnSpc>
            </a:pPr>
            <a:r>
              <a:rPr lang="en-US" sz="4415" b="1">
                <a:solidFill>
                  <a:srgbClr val="FF914D"/>
                </a:solidFill>
                <a:latin typeface="Open Sans 2 Bold"/>
                <a:ea typeface="Open Sans 2 Bold"/>
                <a:cs typeface="Open Sans 2 Bold"/>
                <a:sym typeface="Open Sans 2 Bold"/>
              </a:rPr>
              <a:t>Testing &amp; Results (cont)​</a:t>
            </a:r>
          </a:p>
        </p:txBody>
      </p:sp>
      <p:sp>
        <p:nvSpPr>
          <p:cNvPr id="11" name="Freeform 11"/>
          <p:cNvSpPr/>
          <p:nvPr/>
        </p:nvSpPr>
        <p:spPr>
          <a:xfrm>
            <a:off x="15167113" y="1399162"/>
            <a:ext cx="1869751" cy="1575063"/>
          </a:xfrm>
          <a:custGeom>
            <a:avLst/>
            <a:gdLst/>
            <a:ahLst/>
            <a:cxnLst/>
            <a:rect l="l" t="t" r="r" b="b"/>
            <a:pathLst>
              <a:path w="1869751" h="1575063">
                <a:moveTo>
                  <a:pt x="0" y="0"/>
                </a:moveTo>
                <a:lnTo>
                  <a:pt x="1869751" y="0"/>
                </a:lnTo>
                <a:lnTo>
                  <a:pt x="1869751" y="1575063"/>
                </a:lnTo>
                <a:lnTo>
                  <a:pt x="0" y="1575063"/>
                </a:lnTo>
                <a:lnTo>
                  <a:pt x="0" y="0"/>
                </a:lnTo>
                <a:close/>
              </a:path>
            </a:pathLst>
          </a:custGeom>
          <a:blipFill>
            <a:blip r:embed="rId11"/>
            <a:stretch>
              <a:fillRect t="-7429" b="-11280"/>
            </a:stretch>
          </a:blipFill>
        </p:spPr>
        <p:txBody>
          <a:bodyPr/>
          <a:lstStyle/>
          <a:p>
            <a:endParaRPr lang="en-US"/>
          </a:p>
        </p:txBody>
      </p:sp>
    </p:spTree>
  </p:cSld>
  <p:clrMapOvr>
    <a:masterClrMapping/>
  </p:clrMapOvr>
  <p:timing>
    <p:tnLst>
      <p:par>
        <p:cTn id="1" dur="indefinite" restart="never" nodeType="tmRoot">
          <p:childTnLst>
            <p:video>
              <p:cMediaNode vol="100000">
                <p:cTn id="2" fill="hold" display="0">
                  <p:stCondLst>
                    <p:cond delay="indefinite"/>
                  </p:stCondLst>
                </p:cTn>
                <p:tgtEl>
                  <p:spTgt spid="9"/>
                </p:tgtEl>
              </p:cMediaNode>
            </p:vide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E6D3"/>
        </a:solidFill>
        <a:effectLst/>
      </p:bgPr>
    </p:bg>
    <p:spTree>
      <p:nvGrpSpPr>
        <p:cNvPr id="1" name=""/>
        <p:cNvGrpSpPr/>
        <p:nvPr/>
      </p:nvGrpSpPr>
      <p:grpSpPr>
        <a:xfrm>
          <a:off x="0" y="0"/>
          <a:ext cx="0" cy="0"/>
          <a:chOff x="0" y="0"/>
          <a:chExt cx="0" cy="0"/>
        </a:xfrm>
      </p:grpSpPr>
      <p:sp>
        <p:nvSpPr>
          <p:cNvPr id="2" name="Freeform 2"/>
          <p:cNvSpPr/>
          <p:nvPr/>
        </p:nvSpPr>
        <p:spPr>
          <a:xfrm flipV="1">
            <a:off x="0" y="0"/>
            <a:ext cx="3120887" cy="4114800"/>
          </a:xfrm>
          <a:custGeom>
            <a:avLst/>
            <a:gdLst/>
            <a:ahLst/>
            <a:cxnLst/>
            <a:rect l="l" t="t" r="r" b="b"/>
            <a:pathLst>
              <a:path w="3120887" h="4114800">
                <a:moveTo>
                  <a:pt x="0" y="4114800"/>
                </a:moveTo>
                <a:lnTo>
                  <a:pt x="3120887" y="4114800"/>
                </a:lnTo>
                <a:lnTo>
                  <a:pt x="3120887"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flipH="1">
            <a:off x="15167113" y="6172200"/>
            <a:ext cx="3120887" cy="4114800"/>
          </a:xfrm>
          <a:custGeom>
            <a:avLst/>
            <a:gdLst/>
            <a:ahLst/>
            <a:cxnLst/>
            <a:rect l="l" t="t" r="r" b="b"/>
            <a:pathLst>
              <a:path w="3120887" h="4114800">
                <a:moveTo>
                  <a:pt x="3120887" y="0"/>
                </a:moveTo>
                <a:lnTo>
                  <a:pt x="0" y="0"/>
                </a:lnTo>
                <a:lnTo>
                  <a:pt x="0" y="4114800"/>
                </a:lnTo>
                <a:lnTo>
                  <a:pt x="3120887" y="4114800"/>
                </a:lnTo>
                <a:lnTo>
                  <a:pt x="3120887"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 name="Freeform 4"/>
          <p:cNvSpPr/>
          <p:nvPr/>
        </p:nvSpPr>
        <p:spPr>
          <a:xfrm>
            <a:off x="14618449" y="0"/>
            <a:ext cx="3669551" cy="1392715"/>
          </a:xfrm>
          <a:custGeom>
            <a:avLst/>
            <a:gdLst/>
            <a:ahLst/>
            <a:cxnLst/>
            <a:rect l="l" t="t" r="r" b="b"/>
            <a:pathLst>
              <a:path w="3669551" h="1392715">
                <a:moveTo>
                  <a:pt x="0" y="0"/>
                </a:moveTo>
                <a:lnTo>
                  <a:pt x="3669551" y="0"/>
                </a:lnTo>
                <a:lnTo>
                  <a:pt x="3669551" y="1392715"/>
                </a:lnTo>
                <a:lnTo>
                  <a:pt x="0" y="1392715"/>
                </a:lnTo>
                <a:lnTo>
                  <a:pt x="0" y="0"/>
                </a:lnTo>
                <a:close/>
              </a:path>
            </a:pathLst>
          </a:custGeom>
          <a:blipFill>
            <a:blip r:embed="rId6"/>
            <a:stretch>
              <a:fillRect t="-13626"/>
            </a:stretch>
          </a:blipFill>
        </p:spPr>
        <p:txBody>
          <a:bodyPr/>
          <a:lstStyle/>
          <a:p>
            <a:endParaRPr lang="en-US"/>
          </a:p>
        </p:txBody>
      </p:sp>
      <p:sp>
        <p:nvSpPr>
          <p:cNvPr id="5" name="Freeform 5"/>
          <p:cNvSpPr/>
          <p:nvPr/>
        </p:nvSpPr>
        <p:spPr>
          <a:xfrm>
            <a:off x="3229917" y="0"/>
            <a:ext cx="3838021" cy="1399162"/>
          </a:xfrm>
          <a:custGeom>
            <a:avLst/>
            <a:gdLst/>
            <a:ahLst/>
            <a:cxnLst/>
            <a:rect l="l" t="t" r="r" b="b"/>
            <a:pathLst>
              <a:path w="3838021" h="1399162">
                <a:moveTo>
                  <a:pt x="0" y="0"/>
                </a:moveTo>
                <a:lnTo>
                  <a:pt x="3838021" y="0"/>
                </a:lnTo>
                <a:lnTo>
                  <a:pt x="3838021" y="1399162"/>
                </a:lnTo>
                <a:lnTo>
                  <a:pt x="0" y="1399162"/>
                </a:lnTo>
                <a:lnTo>
                  <a:pt x="0" y="0"/>
                </a:lnTo>
                <a:close/>
              </a:path>
            </a:pathLst>
          </a:custGeom>
          <a:blipFill>
            <a:blip r:embed="rId7"/>
            <a:stretch>
              <a:fillRect t="-13563"/>
            </a:stretch>
          </a:blipFill>
        </p:spPr>
        <p:txBody>
          <a:bodyPr/>
          <a:lstStyle/>
          <a:p>
            <a:endParaRPr lang="en-US"/>
          </a:p>
        </p:txBody>
      </p:sp>
      <p:grpSp>
        <p:nvGrpSpPr>
          <p:cNvPr id="6" name="Group 6"/>
          <p:cNvGrpSpPr/>
          <p:nvPr/>
        </p:nvGrpSpPr>
        <p:grpSpPr>
          <a:xfrm>
            <a:off x="1289645" y="1392715"/>
            <a:ext cx="16209442" cy="8450466"/>
            <a:chOff x="0" y="0"/>
            <a:chExt cx="4269154" cy="2225637"/>
          </a:xfrm>
        </p:grpSpPr>
        <p:sp>
          <p:nvSpPr>
            <p:cNvPr id="7" name="Freeform 7"/>
            <p:cNvSpPr/>
            <p:nvPr/>
          </p:nvSpPr>
          <p:spPr>
            <a:xfrm>
              <a:off x="0" y="0"/>
              <a:ext cx="4269154" cy="2225637"/>
            </a:xfrm>
            <a:custGeom>
              <a:avLst/>
              <a:gdLst/>
              <a:ahLst/>
              <a:cxnLst/>
              <a:rect l="l" t="t" r="r" b="b"/>
              <a:pathLst>
                <a:path w="4269154" h="2225637">
                  <a:moveTo>
                    <a:pt x="24359" y="0"/>
                  </a:moveTo>
                  <a:lnTo>
                    <a:pt x="4244795" y="0"/>
                  </a:lnTo>
                  <a:cubicBezTo>
                    <a:pt x="4251256" y="0"/>
                    <a:pt x="4257451" y="2566"/>
                    <a:pt x="4262019" y="7134"/>
                  </a:cubicBezTo>
                  <a:cubicBezTo>
                    <a:pt x="4266587" y="11703"/>
                    <a:pt x="4269154" y="17898"/>
                    <a:pt x="4269154" y="24359"/>
                  </a:cubicBezTo>
                  <a:lnTo>
                    <a:pt x="4269154" y="2201278"/>
                  </a:lnTo>
                  <a:cubicBezTo>
                    <a:pt x="4269154" y="2207739"/>
                    <a:pt x="4266587" y="2213934"/>
                    <a:pt x="4262019" y="2218503"/>
                  </a:cubicBezTo>
                  <a:cubicBezTo>
                    <a:pt x="4257451" y="2223071"/>
                    <a:pt x="4251256" y="2225637"/>
                    <a:pt x="4244795" y="2225637"/>
                  </a:cubicBezTo>
                  <a:lnTo>
                    <a:pt x="24359" y="2225637"/>
                  </a:lnTo>
                  <a:cubicBezTo>
                    <a:pt x="17898" y="2225637"/>
                    <a:pt x="11703" y="2223071"/>
                    <a:pt x="7134" y="2218503"/>
                  </a:cubicBezTo>
                  <a:cubicBezTo>
                    <a:pt x="2566" y="2213934"/>
                    <a:pt x="0" y="2207739"/>
                    <a:pt x="0" y="2201278"/>
                  </a:cubicBezTo>
                  <a:lnTo>
                    <a:pt x="0" y="24359"/>
                  </a:lnTo>
                  <a:cubicBezTo>
                    <a:pt x="0" y="17898"/>
                    <a:pt x="2566" y="11703"/>
                    <a:pt x="7134" y="7134"/>
                  </a:cubicBezTo>
                  <a:cubicBezTo>
                    <a:pt x="11703" y="2566"/>
                    <a:pt x="17898" y="0"/>
                    <a:pt x="24359" y="0"/>
                  </a:cubicBezTo>
                  <a:close/>
                </a:path>
              </a:pathLst>
            </a:custGeom>
            <a:solidFill>
              <a:srgbClr val="FFFFFF"/>
            </a:solidFill>
            <a:ln w="142875" cap="rnd">
              <a:solidFill>
                <a:srgbClr val="FE9555"/>
              </a:solidFill>
              <a:prstDash val="solid"/>
              <a:round/>
            </a:ln>
          </p:spPr>
          <p:txBody>
            <a:bodyPr/>
            <a:lstStyle/>
            <a:p>
              <a:endParaRPr lang="en-US"/>
            </a:p>
          </p:txBody>
        </p:sp>
        <p:sp>
          <p:nvSpPr>
            <p:cNvPr id="8" name="TextBox 8"/>
            <p:cNvSpPr txBox="1"/>
            <p:nvPr/>
          </p:nvSpPr>
          <p:spPr>
            <a:xfrm>
              <a:off x="0" y="-57150"/>
              <a:ext cx="4269154" cy="2282787"/>
            </a:xfrm>
            <a:prstGeom prst="rect">
              <a:avLst/>
            </a:prstGeom>
          </p:spPr>
          <p:txBody>
            <a:bodyPr lIns="50800" tIns="50800" rIns="50800" bIns="50800" rtlCol="0" anchor="ctr"/>
            <a:lstStyle/>
            <a:p>
              <a:pPr algn="ctr">
                <a:lnSpc>
                  <a:spcPts val="3639"/>
                </a:lnSpc>
              </a:pPr>
              <a:endParaRPr/>
            </a:p>
            <a:p>
              <a:pPr algn="l">
                <a:lnSpc>
                  <a:spcPts val="3639"/>
                </a:lnSpc>
              </a:pPr>
              <a:endParaRPr/>
            </a:p>
            <a:p>
              <a:pPr algn="just">
                <a:lnSpc>
                  <a:spcPts val="3639"/>
                </a:lnSpc>
              </a:pPr>
              <a:endParaRPr/>
            </a:p>
            <a:p>
              <a:pPr algn="just">
                <a:lnSpc>
                  <a:spcPts val="3639"/>
                </a:lnSpc>
              </a:pPr>
              <a:endParaRPr/>
            </a:p>
          </p:txBody>
        </p:sp>
      </p:grpSp>
      <p:sp>
        <p:nvSpPr>
          <p:cNvPr id="9" name="Freeform 9"/>
          <p:cNvSpPr/>
          <p:nvPr/>
        </p:nvSpPr>
        <p:spPr>
          <a:xfrm>
            <a:off x="15389549" y="1694919"/>
            <a:ext cx="1869751" cy="1575063"/>
          </a:xfrm>
          <a:custGeom>
            <a:avLst/>
            <a:gdLst/>
            <a:ahLst/>
            <a:cxnLst/>
            <a:rect l="l" t="t" r="r" b="b"/>
            <a:pathLst>
              <a:path w="1869751" h="1575063">
                <a:moveTo>
                  <a:pt x="0" y="0"/>
                </a:moveTo>
                <a:lnTo>
                  <a:pt x="1869751" y="0"/>
                </a:lnTo>
                <a:lnTo>
                  <a:pt x="1869751" y="1575063"/>
                </a:lnTo>
                <a:lnTo>
                  <a:pt x="0" y="1575063"/>
                </a:lnTo>
                <a:lnTo>
                  <a:pt x="0" y="0"/>
                </a:lnTo>
                <a:close/>
              </a:path>
            </a:pathLst>
          </a:custGeom>
          <a:blipFill>
            <a:blip r:embed="rId8"/>
            <a:stretch>
              <a:fillRect t="-7429" b="-11280"/>
            </a:stretch>
          </a:blipFill>
        </p:spPr>
        <p:txBody>
          <a:bodyPr/>
          <a:lstStyle/>
          <a:p>
            <a:endParaRPr lang="en-US"/>
          </a:p>
        </p:txBody>
      </p:sp>
      <p:sp>
        <p:nvSpPr>
          <p:cNvPr id="10" name="Freeform 10"/>
          <p:cNvSpPr/>
          <p:nvPr/>
        </p:nvSpPr>
        <p:spPr>
          <a:xfrm>
            <a:off x="1897204" y="2251112"/>
            <a:ext cx="7497162" cy="3748581"/>
          </a:xfrm>
          <a:custGeom>
            <a:avLst/>
            <a:gdLst/>
            <a:ahLst/>
            <a:cxnLst/>
            <a:rect l="l" t="t" r="r" b="b"/>
            <a:pathLst>
              <a:path w="7497162" h="3748581">
                <a:moveTo>
                  <a:pt x="0" y="0"/>
                </a:moveTo>
                <a:lnTo>
                  <a:pt x="7497162" y="0"/>
                </a:lnTo>
                <a:lnTo>
                  <a:pt x="7497162" y="3748581"/>
                </a:lnTo>
                <a:lnTo>
                  <a:pt x="0" y="3748581"/>
                </a:lnTo>
                <a:lnTo>
                  <a:pt x="0" y="0"/>
                </a:lnTo>
                <a:close/>
              </a:path>
            </a:pathLst>
          </a:custGeom>
          <a:blipFill>
            <a:blip r:embed="rId9"/>
            <a:stretch>
              <a:fillRect/>
            </a:stretch>
          </a:blipFill>
        </p:spPr>
        <p:txBody>
          <a:bodyPr/>
          <a:lstStyle/>
          <a:p>
            <a:endParaRPr lang="en-US"/>
          </a:p>
        </p:txBody>
      </p:sp>
      <p:sp>
        <p:nvSpPr>
          <p:cNvPr id="11" name="Freeform 11"/>
          <p:cNvSpPr/>
          <p:nvPr/>
        </p:nvSpPr>
        <p:spPr>
          <a:xfrm>
            <a:off x="9394366" y="1857132"/>
            <a:ext cx="6020448" cy="4515336"/>
          </a:xfrm>
          <a:custGeom>
            <a:avLst/>
            <a:gdLst/>
            <a:ahLst/>
            <a:cxnLst/>
            <a:rect l="l" t="t" r="r" b="b"/>
            <a:pathLst>
              <a:path w="6020448" h="4515336">
                <a:moveTo>
                  <a:pt x="0" y="0"/>
                </a:moveTo>
                <a:lnTo>
                  <a:pt x="6020448" y="0"/>
                </a:lnTo>
                <a:lnTo>
                  <a:pt x="6020448" y="4515336"/>
                </a:lnTo>
                <a:lnTo>
                  <a:pt x="0" y="4515336"/>
                </a:lnTo>
                <a:lnTo>
                  <a:pt x="0" y="0"/>
                </a:lnTo>
                <a:close/>
              </a:path>
            </a:pathLst>
          </a:custGeom>
          <a:blipFill>
            <a:blip r:embed="rId10"/>
            <a:stretch>
              <a:fillRect/>
            </a:stretch>
          </a:blipFill>
        </p:spPr>
        <p:txBody>
          <a:bodyPr/>
          <a:lstStyle/>
          <a:p>
            <a:endParaRPr lang="en-US"/>
          </a:p>
        </p:txBody>
      </p:sp>
      <p:sp>
        <p:nvSpPr>
          <p:cNvPr id="12" name="Freeform 12"/>
          <p:cNvSpPr/>
          <p:nvPr/>
        </p:nvSpPr>
        <p:spPr>
          <a:xfrm>
            <a:off x="9919433" y="5756239"/>
            <a:ext cx="5247680" cy="3935760"/>
          </a:xfrm>
          <a:custGeom>
            <a:avLst/>
            <a:gdLst/>
            <a:ahLst/>
            <a:cxnLst/>
            <a:rect l="l" t="t" r="r" b="b"/>
            <a:pathLst>
              <a:path w="5247680" h="3935760">
                <a:moveTo>
                  <a:pt x="0" y="0"/>
                </a:moveTo>
                <a:lnTo>
                  <a:pt x="5247680" y="0"/>
                </a:lnTo>
                <a:lnTo>
                  <a:pt x="5247680" y="3935760"/>
                </a:lnTo>
                <a:lnTo>
                  <a:pt x="0" y="3935760"/>
                </a:lnTo>
                <a:lnTo>
                  <a:pt x="0" y="0"/>
                </a:lnTo>
                <a:close/>
              </a:path>
            </a:pathLst>
          </a:custGeom>
          <a:blipFill>
            <a:blip r:embed="rId11"/>
            <a:stretch>
              <a:fillRect/>
            </a:stretch>
          </a:blipFill>
        </p:spPr>
        <p:txBody>
          <a:bodyPr/>
          <a:lstStyle/>
          <a:p>
            <a:endParaRPr lang="en-US"/>
          </a:p>
        </p:txBody>
      </p:sp>
      <p:sp>
        <p:nvSpPr>
          <p:cNvPr id="13" name="Freeform 13"/>
          <p:cNvSpPr/>
          <p:nvPr/>
        </p:nvSpPr>
        <p:spPr>
          <a:xfrm>
            <a:off x="1871938" y="5999693"/>
            <a:ext cx="7384612" cy="3692306"/>
          </a:xfrm>
          <a:custGeom>
            <a:avLst/>
            <a:gdLst/>
            <a:ahLst/>
            <a:cxnLst/>
            <a:rect l="l" t="t" r="r" b="b"/>
            <a:pathLst>
              <a:path w="7384612" h="3692306">
                <a:moveTo>
                  <a:pt x="0" y="0"/>
                </a:moveTo>
                <a:lnTo>
                  <a:pt x="7384612" y="0"/>
                </a:lnTo>
                <a:lnTo>
                  <a:pt x="7384612" y="3692306"/>
                </a:lnTo>
                <a:lnTo>
                  <a:pt x="0" y="3692306"/>
                </a:lnTo>
                <a:lnTo>
                  <a:pt x="0" y="0"/>
                </a:lnTo>
                <a:close/>
              </a:path>
            </a:pathLst>
          </a:custGeom>
          <a:blipFill>
            <a:blip r:embed="rId12"/>
            <a:stretch>
              <a:fillRect/>
            </a:stretch>
          </a:blipFill>
        </p:spPr>
        <p:txBody>
          <a:bodyPr/>
          <a:lstStyle/>
          <a:p>
            <a:endParaRPr lang="en-US"/>
          </a:p>
        </p:txBody>
      </p:sp>
      <p:sp>
        <p:nvSpPr>
          <p:cNvPr id="14" name="TextBox 14"/>
          <p:cNvSpPr txBox="1"/>
          <p:nvPr/>
        </p:nvSpPr>
        <p:spPr>
          <a:xfrm>
            <a:off x="3534990" y="1512599"/>
            <a:ext cx="4532933" cy="1348740"/>
          </a:xfrm>
          <a:prstGeom prst="rect">
            <a:avLst/>
          </a:prstGeom>
        </p:spPr>
        <p:txBody>
          <a:bodyPr lIns="0" tIns="0" rIns="0" bIns="0" rtlCol="0" anchor="t">
            <a:spAutoFit/>
          </a:bodyPr>
          <a:lstStyle/>
          <a:p>
            <a:pPr algn="ctr">
              <a:lnSpc>
                <a:spcPts val="5460"/>
              </a:lnSpc>
            </a:pPr>
            <a:r>
              <a:rPr lang="en-US" sz="3900" b="1">
                <a:solidFill>
                  <a:srgbClr val="FF914D"/>
                </a:solidFill>
                <a:latin typeface="Open Sans 1 Bold"/>
                <a:ea typeface="Open Sans 1 Bold"/>
                <a:cs typeface="Open Sans 1 Bold"/>
                <a:sym typeface="Open Sans 1 Bold"/>
              </a:rPr>
              <a:t>Comparing results</a:t>
            </a:r>
          </a:p>
          <a:p>
            <a:pPr algn="ctr">
              <a:lnSpc>
                <a:spcPts val="5460"/>
              </a:lnSpc>
              <a:spcBef>
                <a:spcPct val="0"/>
              </a:spcBef>
            </a:pPr>
            <a:endParaRPr lang="en-US" sz="3900" b="1">
              <a:solidFill>
                <a:srgbClr val="FF914D"/>
              </a:solidFill>
              <a:latin typeface="Open Sans 1 Bold"/>
              <a:ea typeface="Open Sans 1 Bold"/>
              <a:cs typeface="Open Sans 1 Bold"/>
              <a:sym typeface="Open Sans 1 Bo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E6D3"/>
        </a:solidFill>
        <a:effectLst/>
      </p:bgPr>
    </p:bg>
    <p:spTree>
      <p:nvGrpSpPr>
        <p:cNvPr id="1" name=""/>
        <p:cNvGrpSpPr/>
        <p:nvPr/>
      </p:nvGrpSpPr>
      <p:grpSpPr>
        <a:xfrm>
          <a:off x="0" y="0"/>
          <a:ext cx="0" cy="0"/>
          <a:chOff x="0" y="0"/>
          <a:chExt cx="0" cy="0"/>
        </a:xfrm>
      </p:grpSpPr>
      <p:sp>
        <p:nvSpPr>
          <p:cNvPr id="2" name="Freeform 2"/>
          <p:cNvSpPr/>
          <p:nvPr/>
        </p:nvSpPr>
        <p:spPr>
          <a:xfrm flipV="1">
            <a:off x="0" y="0"/>
            <a:ext cx="3120887" cy="4114800"/>
          </a:xfrm>
          <a:custGeom>
            <a:avLst/>
            <a:gdLst/>
            <a:ahLst/>
            <a:cxnLst/>
            <a:rect l="l" t="t" r="r" b="b"/>
            <a:pathLst>
              <a:path w="3120887" h="4114800">
                <a:moveTo>
                  <a:pt x="0" y="4114800"/>
                </a:moveTo>
                <a:lnTo>
                  <a:pt x="3120887" y="4114800"/>
                </a:lnTo>
                <a:lnTo>
                  <a:pt x="3120887"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flipH="1">
            <a:off x="15167113" y="6172200"/>
            <a:ext cx="3120887" cy="4114800"/>
          </a:xfrm>
          <a:custGeom>
            <a:avLst/>
            <a:gdLst/>
            <a:ahLst/>
            <a:cxnLst/>
            <a:rect l="l" t="t" r="r" b="b"/>
            <a:pathLst>
              <a:path w="3120887" h="4114800">
                <a:moveTo>
                  <a:pt x="3120887" y="0"/>
                </a:moveTo>
                <a:lnTo>
                  <a:pt x="0" y="0"/>
                </a:lnTo>
                <a:lnTo>
                  <a:pt x="0" y="4114800"/>
                </a:lnTo>
                <a:lnTo>
                  <a:pt x="3120887" y="4114800"/>
                </a:lnTo>
                <a:lnTo>
                  <a:pt x="3120887"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grpSp>
        <p:nvGrpSpPr>
          <p:cNvPr id="4" name="Group 4"/>
          <p:cNvGrpSpPr/>
          <p:nvPr/>
        </p:nvGrpSpPr>
        <p:grpSpPr>
          <a:xfrm>
            <a:off x="517865" y="1392715"/>
            <a:ext cx="17558732" cy="7490991"/>
            <a:chOff x="0" y="0"/>
            <a:chExt cx="4624522" cy="1972936"/>
          </a:xfrm>
        </p:grpSpPr>
        <p:sp>
          <p:nvSpPr>
            <p:cNvPr id="5" name="Freeform 5"/>
            <p:cNvSpPr/>
            <p:nvPr/>
          </p:nvSpPr>
          <p:spPr>
            <a:xfrm>
              <a:off x="0" y="0"/>
              <a:ext cx="4624522" cy="1972936"/>
            </a:xfrm>
            <a:custGeom>
              <a:avLst/>
              <a:gdLst/>
              <a:ahLst/>
              <a:cxnLst/>
              <a:rect l="l" t="t" r="r" b="b"/>
              <a:pathLst>
                <a:path w="4624522" h="1972936">
                  <a:moveTo>
                    <a:pt x="22487" y="0"/>
                  </a:moveTo>
                  <a:lnTo>
                    <a:pt x="4602035" y="0"/>
                  </a:lnTo>
                  <a:cubicBezTo>
                    <a:pt x="4607999" y="0"/>
                    <a:pt x="4613719" y="2369"/>
                    <a:pt x="4617936" y="6586"/>
                  </a:cubicBezTo>
                  <a:cubicBezTo>
                    <a:pt x="4622153" y="10803"/>
                    <a:pt x="4624522" y="16523"/>
                    <a:pt x="4624522" y="22487"/>
                  </a:cubicBezTo>
                  <a:lnTo>
                    <a:pt x="4624522" y="1950449"/>
                  </a:lnTo>
                  <a:cubicBezTo>
                    <a:pt x="4624522" y="1956413"/>
                    <a:pt x="4622153" y="1962133"/>
                    <a:pt x="4617936" y="1966350"/>
                  </a:cubicBezTo>
                  <a:cubicBezTo>
                    <a:pt x="4613719" y="1970567"/>
                    <a:pt x="4607999" y="1972936"/>
                    <a:pt x="4602035" y="1972936"/>
                  </a:cubicBezTo>
                  <a:lnTo>
                    <a:pt x="22487" y="1972936"/>
                  </a:lnTo>
                  <a:cubicBezTo>
                    <a:pt x="16523" y="1972936"/>
                    <a:pt x="10803" y="1970567"/>
                    <a:pt x="6586" y="1966350"/>
                  </a:cubicBezTo>
                  <a:cubicBezTo>
                    <a:pt x="2369" y="1962133"/>
                    <a:pt x="0" y="1956413"/>
                    <a:pt x="0" y="1950449"/>
                  </a:cubicBezTo>
                  <a:lnTo>
                    <a:pt x="0" y="22487"/>
                  </a:lnTo>
                  <a:cubicBezTo>
                    <a:pt x="0" y="16523"/>
                    <a:pt x="2369" y="10803"/>
                    <a:pt x="6586" y="6586"/>
                  </a:cubicBezTo>
                  <a:cubicBezTo>
                    <a:pt x="10803" y="2369"/>
                    <a:pt x="16523" y="0"/>
                    <a:pt x="22487" y="0"/>
                  </a:cubicBezTo>
                  <a:close/>
                </a:path>
              </a:pathLst>
            </a:custGeom>
            <a:solidFill>
              <a:srgbClr val="FFFFFF"/>
            </a:solidFill>
            <a:ln w="142875" cap="rnd">
              <a:solidFill>
                <a:srgbClr val="FE9555"/>
              </a:solidFill>
              <a:prstDash val="solid"/>
              <a:round/>
            </a:ln>
          </p:spPr>
          <p:txBody>
            <a:bodyPr/>
            <a:lstStyle/>
            <a:p>
              <a:endParaRPr lang="en-US"/>
            </a:p>
          </p:txBody>
        </p:sp>
        <p:sp>
          <p:nvSpPr>
            <p:cNvPr id="6" name="TextBox 6"/>
            <p:cNvSpPr txBox="1"/>
            <p:nvPr/>
          </p:nvSpPr>
          <p:spPr>
            <a:xfrm>
              <a:off x="0" y="-28575"/>
              <a:ext cx="4624522" cy="2001511"/>
            </a:xfrm>
            <a:prstGeom prst="rect">
              <a:avLst/>
            </a:prstGeom>
          </p:spPr>
          <p:txBody>
            <a:bodyPr lIns="0" tIns="0" rIns="0" bIns="0" rtlCol="0" anchor="ctr"/>
            <a:lstStyle/>
            <a:p>
              <a:pPr algn="ctr">
                <a:lnSpc>
                  <a:spcPts val="1960"/>
                </a:lnSpc>
              </a:pPr>
              <a:r>
                <a:rPr lang="en-US" sz="1400">
                  <a:solidFill>
                    <a:srgbClr val="FE9555"/>
                  </a:solidFill>
                  <a:latin typeface="Open Sans 1"/>
                  <a:ea typeface="Open Sans 1"/>
                  <a:cs typeface="Open Sans 1"/>
                  <a:sym typeface="Open Sans 1"/>
                </a:rPr>
                <a:t>​</a:t>
              </a:r>
            </a:p>
            <a:p>
              <a:pPr algn="ctr">
                <a:lnSpc>
                  <a:spcPts val="2860"/>
                </a:lnSpc>
              </a:pPr>
              <a:r>
                <a:rPr lang="en-US" sz="2200">
                  <a:solidFill>
                    <a:srgbClr val="FE9555"/>
                  </a:solidFill>
                  <a:latin typeface="Open Sans 1"/>
                  <a:ea typeface="Open Sans 1"/>
                  <a:cs typeface="Open Sans 1"/>
                  <a:sym typeface="Open Sans 1"/>
                </a:rPr>
                <a:t> </a:t>
              </a:r>
            </a:p>
            <a:p>
              <a:pPr algn="ctr">
                <a:lnSpc>
                  <a:spcPts val="2860"/>
                </a:lnSpc>
              </a:pPr>
              <a:endParaRPr lang="en-US" sz="2200">
                <a:solidFill>
                  <a:srgbClr val="FE9555"/>
                </a:solidFill>
                <a:latin typeface="Open Sans 1"/>
                <a:ea typeface="Open Sans 1"/>
                <a:cs typeface="Open Sans 1"/>
                <a:sym typeface="Open Sans 1"/>
              </a:endParaRPr>
            </a:p>
            <a:p>
              <a:pPr algn="ctr">
                <a:lnSpc>
                  <a:spcPts val="2860"/>
                </a:lnSpc>
              </a:pPr>
              <a:endParaRPr lang="en-US" sz="2200">
                <a:solidFill>
                  <a:srgbClr val="FE9555"/>
                </a:solidFill>
                <a:latin typeface="Open Sans 1"/>
                <a:ea typeface="Open Sans 1"/>
                <a:cs typeface="Open Sans 1"/>
                <a:sym typeface="Open Sans 1"/>
              </a:endParaRPr>
            </a:p>
            <a:p>
              <a:pPr algn="ctr">
                <a:lnSpc>
                  <a:spcPts val="2860"/>
                </a:lnSpc>
              </a:pPr>
              <a:endParaRPr lang="en-US" sz="2200">
                <a:solidFill>
                  <a:srgbClr val="FE9555"/>
                </a:solidFill>
                <a:latin typeface="Open Sans 1"/>
                <a:ea typeface="Open Sans 1"/>
                <a:cs typeface="Open Sans 1"/>
                <a:sym typeface="Open Sans 1"/>
              </a:endParaRPr>
            </a:p>
            <a:p>
              <a:pPr algn="ctr">
                <a:lnSpc>
                  <a:spcPts val="2860"/>
                </a:lnSpc>
              </a:pPr>
              <a:endParaRPr lang="en-US" sz="2200">
                <a:solidFill>
                  <a:srgbClr val="FE9555"/>
                </a:solidFill>
                <a:latin typeface="Open Sans 1"/>
                <a:ea typeface="Open Sans 1"/>
                <a:cs typeface="Open Sans 1"/>
                <a:sym typeface="Open Sans 1"/>
              </a:endParaRPr>
            </a:p>
            <a:p>
              <a:pPr algn="ctr">
                <a:lnSpc>
                  <a:spcPts val="2860"/>
                </a:lnSpc>
              </a:pPr>
              <a:endParaRPr lang="en-US" sz="2200">
                <a:solidFill>
                  <a:srgbClr val="FE9555"/>
                </a:solidFill>
                <a:latin typeface="Open Sans 1"/>
                <a:ea typeface="Open Sans 1"/>
                <a:cs typeface="Open Sans 1"/>
                <a:sym typeface="Open Sans 1"/>
              </a:endParaRPr>
            </a:p>
            <a:p>
              <a:pPr algn="just">
                <a:lnSpc>
                  <a:spcPts val="2860"/>
                </a:lnSpc>
              </a:pPr>
              <a:endParaRPr lang="en-US" sz="2200">
                <a:solidFill>
                  <a:srgbClr val="FE9555"/>
                </a:solidFill>
                <a:latin typeface="Open Sans 1"/>
                <a:ea typeface="Open Sans 1"/>
                <a:cs typeface="Open Sans 1"/>
                <a:sym typeface="Open Sans 1"/>
              </a:endParaRPr>
            </a:p>
            <a:p>
              <a:pPr algn="just">
                <a:lnSpc>
                  <a:spcPts val="3919"/>
                </a:lnSpc>
                <a:spcBef>
                  <a:spcPct val="0"/>
                </a:spcBef>
              </a:pPr>
              <a:endParaRPr lang="en-US" sz="2200">
                <a:solidFill>
                  <a:srgbClr val="FE9555"/>
                </a:solidFill>
                <a:latin typeface="Open Sans 1"/>
                <a:ea typeface="Open Sans 1"/>
                <a:cs typeface="Open Sans 1"/>
                <a:sym typeface="Open Sans 1"/>
              </a:endParaRPr>
            </a:p>
          </p:txBody>
        </p:sp>
      </p:grpSp>
      <p:sp>
        <p:nvSpPr>
          <p:cNvPr id="7" name="Freeform 7"/>
          <p:cNvSpPr/>
          <p:nvPr/>
        </p:nvSpPr>
        <p:spPr>
          <a:xfrm>
            <a:off x="14618449" y="-189779"/>
            <a:ext cx="3669551" cy="1582494"/>
          </a:xfrm>
          <a:custGeom>
            <a:avLst/>
            <a:gdLst/>
            <a:ahLst/>
            <a:cxnLst/>
            <a:rect l="l" t="t" r="r" b="b"/>
            <a:pathLst>
              <a:path w="3669551" h="1582494">
                <a:moveTo>
                  <a:pt x="0" y="0"/>
                </a:moveTo>
                <a:lnTo>
                  <a:pt x="3669551" y="0"/>
                </a:lnTo>
                <a:lnTo>
                  <a:pt x="3669551" y="1582494"/>
                </a:lnTo>
                <a:lnTo>
                  <a:pt x="0" y="1582494"/>
                </a:lnTo>
                <a:lnTo>
                  <a:pt x="0" y="0"/>
                </a:lnTo>
                <a:close/>
              </a:path>
            </a:pathLst>
          </a:custGeom>
          <a:blipFill>
            <a:blip r:embed="rId6"/>
            <a:stretch>
              <a:fillRect/>
            </a:stretch>
          </a:blipFill>
        </p:spPr>
        <p:txBody>
          <a:bodyPr/>
          <a:lstStyle/>
          <a:p>
            <a:endParaRPr lang="en-US"/>
          </a:p>
        </p:txBody>
      </p:sp>
      <p:sp>
        <p:nvSpPr>
          <p:cNvPr id="8" name="Freeform 8"/>
          <p:cNvSpPr/>
          <p:nvPr/>
        </p:nvSpPr>
        <p:spPr>
          <a:xfrm>
            <a:off x="3229917" y="-189779"/>
            <a:ext cx="3838021" cy="1588941"/>
          </a:xfrm>
          <a:custGeom>
            <a:avLst/>
            <a:gdLst/>
            <a:ahLst/>
            <a:cxnLst/>
            <a:rect l="l" t="t" r="r" b="b"/>
            <a:pathLst>
              <a:path w="3838021" h="1588941">
                <a:moveTo>
                  <a:pt x="0" y="0"/>
                </a:moveTo>
                <a:lnTo>
                  <a:pt x="3838021" y="0"/>
                </a:lnTo>
                <a:lnTo>
                  <a:pt x="3838021" y="1588941"/>
                </a:lnTo>
                <a:lnTo>
                  <a:pt x="0" y="1588941"/>
                </a:lnTo>
                <a:lnTo>
                  <a:pt x="0" y="0"/>
                </a:lnTo>
                <a:close/>
              </a:path>
            </a:pathLst>
          </a:custGeom>
          <a:blipFill>
            <a:blip r:embed="rId7"/>
            <a:stretch>
              <a:fillRect/>
            </a:stretch>
          </a:blipFill>
        </p:spPr>
        <p:txBody>
          <a:bodyPr/>
          <a:lstStyle/>
          <a:p>
            <a:endParaRPr lang="en-US"/>
          </a:p>
        </p:txBody>
      </p:sp>
      <p:sp>
        <p:nvSpPr>
          <p:cNvPr id="9" name="TextBox 9"/>
          <p:cNvSpPr txBox="1"/>
          <p:nvPr/>
        </p:nvSpPr>
        <p:spPr>
          <a:xfrm>
            <a:off x="3427350" y="1981200"/>
            <a:ext cx="11739763" cy="663254"/>
          </a:xfrm>
          <a:prstGeom prst="rect">
            <a:avLst/>
          </a:prstGeom>
        </p:spPr>
        <p:txBody>
          <a:bodyPr lIns="0" tIns="0" rIns="0" bIns="0" rtlCol="0" anchor="t">
            <a:spAutoFit/>
          </a:bodyPr>
          <a:lstStyle/>
          <a:p>
            <a:pPr algn="ctr">
              <a:lnSpc>
                <a:spcPts val="5442"/>
              </a:lnSpc>
              <a:spcBef>
                <a:spcPct val="0"/>
              </a:spcBef>
            </a:pPr>
            <a:r>
              <a:rPr lang="en-US" sz="3887" b="1">
                <a:solidFill>
                  <a:srgbClr val="FE9555"/>
                </a:solidFill>
                <a:latin typeface="Open Sans 1 Bold"/>
                <a:ea typeface="Open Sans 1 Bold"/>
                <a:cs typeface="Open Sans 1 Bold"/>
                <a:sym typeface="Open Sans 1 Bold"/>
              </a:rPr>
              <a:t>Challenges</a:t>
            </a:r>
          </a:p>
        </p:txBody>
      </p:sp>
      <p:sp>
        <p:nvSpPr>
          <p:cNvPr id="10" name="Freeform 10"/>
          <p:cNvSpPr/>
          <p:nvPr/>
        </p:nvSpPr>
        <p:spPr>
          <a:xfrm>
            <a:off x="15673998" y="1523278"/>
            <a:ext cx="1869751" cy="1575063"/>
          </a:xfrm>
          <a:custGeom>
            <a:avLst/>
            <a:gdLst/>
            <a:ahLst/>
            <a:cxnLst/>
            <a:rect l="l" t="t" r="r" b="b"/>
            <a:pathLst>
              <a:path w="1869751" h="1575063">
                <a:moveTo>
                  <a:pt x="0" y="0"/>
                </a:moveTo>
                <a:lnTo>
                  <a:pt x="1869752" y="0"/>
                </a:lnTo>
                <a:lnTo>
                  <a:pt x="1869752" y="1575062"/>
                </a:lnTo>
                <a:lnTo>
                  <a:pt x="0" y="1575062"/>
                </a:lnTo>
                <a:lnTo>
                  <a:pt x="0" y="0"/>
                </a:lnTo>
                <a:close/>
              </a:path>
            </a:pathLst>
          </a:custGeom>
          <a:blipFill>
            <a:blip r:embed="rId8"/>
            <a:stretch>
              <a:fillRect t="-7429" b="-11280"/>
            </a:stretch>
          </a:blipFill>
        </p:spPr>
        <p:txBody>
          <a:bodyPr/>
          <a:lstStyle/>
          <a:p>
            <a:endParaRPr lang="en-US"/>
          </a:p>
        </p:txBody>
      </p:sp>
      <p:sp>
        <p:nvSpPr>
          <p:cNvPr id="11" name="TextBox 11"/>
          <p:cNvSpPr txBox="1"/>
          <p:nvPr/>
        </p:nvSpPr>
        <p:spPr>
          <a:xfrm>
            <a:off x="3427350" y="2844463"/>
            <a:ext cx="11491640" cy="1136124"/>
          </a:xfrm>
          <a:prstGeom prst="rect">
            <a:avLst/>
          </a:prstGeom>
        </p:spPr>
        <p:txBody>
          <a:bodyPr lIns="0" tIns="0" rIns="0" bIns="0" rtlCol="0" anchor="t">
            <a:spAutoFit/>
          </a:bodyPr>
          <a:lstStyle/>
          <a:p>
            <a:pPr algn="ctr">
              <a:lnSpc>
                <a:spcPts val="3003"/>
              </a:lnSpc>
              <a:spcBef>
                <a:spcPct val="0"/>
              </a:spcBef>
            </a:pPr>
            <a:r>
              <a:rPr lang="en-US" sz="2145">
                <a:solidFill>
                  <a:srgbClr val="FE9555"/>
                </a:solidFill>
                <a:latin typeface="Open Sans 1"/>
                <a:ea typeface="Open Sans 1"/>
                <a:cs typeface="Open Sans 1"/>
                <a:sym typeface="Open Sans 1"/>
              </a:rPr>
              <a:t>During the development of our project, we encountered several key challenges</a:t>
            </a:r>
          </a:p>
          <a:p>
            <a:pPr algn="ctr">
              <a:lnSpc>
                <a:spcPts val="3003"/>
              </a:lnSpc>
              <a:spcBef>
                <a:spcPct val="0"/>
              </a:spcBef>
            </a:pPr>
            <a:r>
              <a:rPr lang="en-US" sz="2145">
                <a:solidFill>
                  <a:srgbClr val="000000"/>
                </a:solidFill>
                <a:latin typeface="Open Sans 1"/>
                <a:ea typeface="Open Sans 1"/>
                <a:cs typeface="Open Sans 1"/>
                <a:sym typeface="Open Sans 1"/>
              </a:rPr>
              <a:t> </a:t>
            </a:r>
          </a:p>
          <a:p>
            <a:pPr algn="ctr">
              <a:lnSpc>
                <a:spcPts val="3003"/>
              </a:lnSpc>
              <a:spcBef>
                <a:spcPct val="0"/>
              </a:spcBef>
            </a:pPr>
            <a:endParaRPr lang="en-US" sz="2145">
              <a:solidFill>
                <a:srgbClr val="000000"/>
              </a:solidFill>
              <a:latin typeface="Open Sans 1"/>
              <a:ea typeface="Open Sans 1"/>
              <a:cs typeface="Open Sans 1"/>
              <a:sym typeface="Open Sans 1"/>
            </a:endParaRPr>
          </a:p>
        </p:txBody>
      </p:sp>
      <p:sp>
        <p:nvSpPr>
          <p:cNvPr id="12" name="TextBox 12"/>
          <p:cNvSpPr txBox="1"/>
          <p:nvPr/>
        </p:nvSpPr>
        <p:spPr>
          <a:xfrm>
            <a:off x="1028700" y="3417288"/>
            <a:ext cx="16475011" cy="5058410"/>
          </a:xfrm>
          <a:prstGeom prst="rect">
            <a:avLst/>
          </a:prstGeom>
        </p:spPr>
        <p:txBody>
          <a:bodyPr lIns="0" tIns="0" rIns="0" bIns="0" rtlCol="0" anchor="t">
            <a:spAutoFit/>
          </a:bodyPr>
          <a:lstStyle/>
          <a:p>
            <a:pPr algn="ctr">
              <a:lnSpc>
                <a:spcPts val="2860"/>
              </a:lnSpc>
            </a:pPr>
            <a:r>
              <a:rPr lang="en-US" sz="2200" b="1">
                <a:solidFill>
                  <a:srgbClr val="FE9555"/>
                </a:solidFill>
                <a:latin typeface="Open Sans 1 Bold"/>
                <a:ea typeface="Open Sans 1 Bold"/>
                <a:cs typeface="Open Sans 1 Bold"/>
                <a:sym typeface="Open Sans 1 Bold"/>
              </a:rPr>
              <a:t>One of the major obstacles was:</a:t>
            </a:r>
            <a:r>
              <a:rPr lang="en-US" sz="2200">
                <a:solidFill>
                  <a:srgbClr val="FE9555"/>
                </a:solidFill>
                <a:latin typeface="Open Sans 1"/>
                <a:ea typeface="Open Sans 1"/>
                <a:cs typeface="Open Sans 1"/>
                <a:sym typeface="Open Sans 1"/>
              </a:rPr>
              <a:t> the poor accuracy of models trained on publicly available datasets. No matter how extensively we trained, the results were consistently suboptimal.</a:t>
            </a:r>
          </a:p>
          <a:p>
            <a:pPr algn="ctr">
              <a:lnSpc>
                <a:spcPts val="2860"/>
              </a:lnSpc>
            </a:pPr>
            <a:endParaRPr lang="en-US" sz="2200">
              <a:solidFill>
                <a:srgbClr val="FE9555"/>
              </a:solidFill>
              <a:latin typeface="Open Sans 1"/>
              <a:ea typeface="Open Sans 1"/>
              <a:cs typeface="Open Sans 1"/>
              <a:sym typeface="Open Sans 1"/>
            </a:endParaRPr>
          </a:p>
          <a:p>
            <a:pPr algn="ctr">
              <a:lnSpc>
                <a:spcPts val="2860"/>
              </a:lnSpc>
              <a:spcBef>
                <a:spcPct val="0"/>
              </a:spcBef>
            </a:pPr>
            <a:r>
              <a:rPr lang="en-US" sz="2200" b="1">
                <a:solidFill>
                  <a:srgbClr val="FE9555"/>
                </a:solidFill>
                <a:latin typeface="Open Sans 1 Bold"/>
                <a:ea typeface="Open Sans 1 Bold"/>
                <a:cs typeface="Open Sans 1 Bold"/>
                <a:sym typeface="Open Sans 1 Bold"/>
              </a:rPr>
              <a:t>Custom Data Collection &amp; Annotation:</a:t>
            </a:r>
            <a:r>
              <a:rPr lang="en-US" sz="2200">
                <a:solidFill>
                  <a:srgbClr val="FE9555"/>
                </a:solidFill>
                <a:latin typeface="Open Sans 1"/>
                <a:ea typeface="Open Sans 1"/>
                <a:cs typeface="Open Sans 1"/>
                <a:sym typeface="Open Sans 1"/>
              </a:rPr>
              <a:t> To overcome the dataset limitations, we had to collect our own drone footage and manually annotate the data to meet our project’s specific requirements. This process was time-consuming but essential.</a:t>
            </a:r>
          </a:p>
          <a:p>
            <a:pPr algn="ctr">
              <a:lnSpc>
                <a:spcPts val="2860"/>
              </a:lnSpc>
              <a:spcBef>
                <a:spcPct val="0"/>
              </a:spcBef>
            </a:pPr>
            <a:endParaRPr lang="en-US" sz="2200">
              <a:solidFill>
                <a:srgbClr val="FE9555"/>
              </a:solidFill>
              <a:latin typeface="Open Sans 1"/>
              <a:ea typeface="Open Sans 1"/>
              <a:cs typeface="Open Sans 1"/>
              <a:sym typeface="Open Sans 1"/>
            </a:endParaRPr>
          </a:p>
          <a:p>
            <a:pPr algn="ctr">
              <a:lnSpc>
                <a:spcPts val="2860"/>
              </a:lnSpc>
              <a:spcBef>
                <a:spcPct val="0"/>
              </a:spcBef>
            </a:pPr>
            <a:r>
              <a:rPr lang="en-US" sz="2200" b="1">
                <a:solidFill>
                  <a:srgbClr val="FE9555"/>
                </a:solidFill>
                <a:latin typeface="Open Sans 1 Bold"/>
                <a:ea typeface="Open Sans 1 Bold"/>
                <a:cs typeface="Open Sans 1 Bold"/>
                <a:sym typeface="Open Sans 1 Bold"/>
              </a:rPr>
              <a:t>Computational Power</a:t>
            </a:r>
            <a:r>
              <a:rPr lang="en-US" sz="2200">
                <a:solidFill>
                  <a:srgbClr val="FE9555"/>
                </a:solidFill>
                <a:latin typeface="Open Sans 1"/>
                <a:ea typeface="Open Sans 1"/>
                <a:cs typeface="Open Sans 1"/>
                <a:sym typeface="Open Sans 1"/>
              </a:rPr>
              <a:t>: Training deep learning models requires substantial computational resources. Running high-resolution object detection models with real-time performance posed hardware limitations during development.</a:t>
            </a:r>
          </a:p>
          <a:p>
            <a:pPr algn="ctr">
              <a:lnSpc>
                <a:spcPts val="2860"/>
              </a:lnSpc>
              <a:spcBef>
                <a:spcPct val="0"/>
              </a:spcBef>
            </a:pPr>
            <a:endParaRPr lang="en-US" sz="2200">
              <a:solidFill>
                <a:srgbClr val="FE9555"/>
              </a:solidFill>
              <a:latin typeface="Open Sans 1"/>
              <a:ea typeface="Open Sans 1"/>
              <a:cs typeface="Open Sans 1"/>
              <a:sym typeface="Open Sans 1"/>
            </a:endParaRPr>
          </a:p>
          <a:p>
            <a:pPr algn="ctr">
              <a:lnSpc>
                <a:spcPts val="2860"/>
              </a:lnSpc>
              <a:spcBef>
                <a:spcPct val="0"/>
              </a:spcBef>
            </a:pPr>
            <a:r>
              <a:rPr lang="en-US" sz="2200" b="1">
                <a:solidFill>
                  <a:srgbClr val="FE9555"/>
                </a:solidFill>
                <a:latin typeface="Open Sans 1 Bold"/>
                <a:ea typeface="Open Sans 1 Bold"/>
                <a:cs typeface="Open Sans 1 Bold"/>
                <a:sym typeface="Open Sans 1 Bold"/>
              </a:rPr>
              <a:t>Drone Reliability Issues:</a:t>
            </a:r>
            <a:r>
              <a:rPr lang="en-US" sz="2200">
                <a:solidFill>
                  <a:srgbClr val="FE9555"/>
                </a:solidFill>
                <a:latin typeface="Open Sans 1"/>
                <a:ea typeface="Open Sans 1"/>
                <a:cs typeface="Open Sans 1"/>
                <a:sym typeface="Open Sans 1"/>
              </a:rPr>
              <a:t> Operating the drone consistently was another challenge. It would often shut down unexpectedly due to overheating or other environmental conditions, which disrupted testing sessions.</a:t>
            </a:r>
          </a:p>
          <a:p>
            <a:pPr algn="ctr">
              <a:lnSpc>
                <a:spcPts val="2860"/>
              </a:lnSpc>
              <a:spcBef>
                <a:spcPct val="0"/>
              </a:spcBef>
            </a:pPr>
            <a:endParaRPr lang="en-US" sz="2200">
              <a:solidFill>
                <a:srgbClr val="FE9555"/>
              </a:solidFill>
              <a:latin typeface="Open Sans 1"/>
              <a:ea typeface="Open Sans 1"/>
              <a:cs typeface="Open Sans 1"/>
              <a:sym typeface="Open Sans 1"/>
            </a:endParaRPr>
          </a:p>
          <a:p>
            <a:pPr algn="ctr">
              <a:lnSpc>
                <a:spcPts val="2860"/>
              </a:lnSpc>
              <a:spcBef>
                <a:spcPct val="0"/>
              </a:spcBef>
            </a:pPr>
            <a:r>
              <a:rPr lang="en-US" sz="2200" b="1">
                <a:solidFill>
                  <a:srgbClr val="FE9555"/>
                </a:solidFill>
                <a:latin typeface="Open Sans 1 Bold"/>
                <a:ea typeface="Open Sans 1 Bold"/>
                <a:cs typeface="Open Sans 1 Bold"/>
                <a:sym typeface="Open Sans 1 Bold"/>
              </a:rPr>
              <a:t>Poor Camera Quality:</a:t>
            </a:r>
            <a:r>
              <a:rPr lang="en-US" sz="2200">
                <a:solidFill>
                  <a:srgbClr val="FE9555"/>
                </a:solidFill>
                <a:latin typeface="Open Sans 1"/>
                <a:ea typeface="Open Sans 1"/>
                <a:cs typeface="Open Sans 1"/>
                <a:sym typeface="Open Sans 1"/>
              </a:rPr>
              <a:t> The built-in drone camera had low resolution and poor stabilization, making it harder for the detection model to accurately identify vehicles and parking slots.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E6D3"/>
        </a:solidFill>
        <a:effectLst/>
      </p:bgPr>
    </p:bg>
    <p:spTree>
      <p:nvGrpSpPr>
        <p:cNvPr id="1" name=""/>
        <p:cNvGrpSpPr/>
        <p:nvPr/>
      </p:nvGrpSpPr>
      <p:grpSpPr>
        <a:xfrm>
          <a:off x="0" y="0"/>
          <a:ext cx="0" cy="0"/>
          <a:chOff x="0" y="0"/>
          <a:chExt cx="0" cy="0"/>
        </a:xfrm>
      </p:grpSpPr>
      <p:sp>
        <p:nvSpPr>
          <p:cNvPr id="2" name="Freeform 2"/>
          <p:cNvSpPr/>
          <p:nvPr/>
        </p:nvSpPr>
        <p:spPr>
          <a:xfrm flipV="1">
            <a:off x="0" y="0"/>
            <a:ext cx="3120887" cy="4114800"/>
          </a:xfrm>
          <a:custGeom>
            <a:avLst/>
            <a:gdLst/>
            <a:ahLst/>
            <a:cxnLst/>
            <a:rect l="l" t="t" r="r" b="b"/>
            <a:pathLst>
              <a:path w="3120887" h="4114800">
                <a:moveTo>
                  <a:pt x="0" y="4114800"/>
                </a:moveTo>
                <a:lnTo>
                  <a:pt x="3120887" y="4114800"/>
                </a:lnTo>
                <a:lnTo>
                  <a:pt x="3120887"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flipH="1">
            <a:off x="15167113" y="6172200"/>
            <a:ext cx="3120887" cy="4114800"/>
          </a:xfrm>
          <a:custGeom>
            <a:avLst/>
            <a:gdLst/>
            <a:ahLst/>
            <a:cxnLst/>
            <a:rect l="l" t="t" r="r" b="b"/>
            <a:pathLst>
              <a:path w="3120887" h="4114800">
                <a:moveTo>
                  <a:pt x="3120887" y="0"/>
                </a:moveTo>
                <a:lnTo>
                  <a:pt x="0" y="0"/>
                </a:lnTo>
                <a:lnTo>
                  <a:pt x="0" y="4114800"/>
                </a:lnTo>
                <a:lnTo>
                  <a:pt x="3120887" y="4114800"/>
                </a:lnTo>
                <a:lnTo>
                  <a:pt x="3120887"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grpSp>
        <p:nvGrpSpPr>
          <p:cNvPr id="4" name="Group 4"/>
          <p:cNvGrpSpPr/>
          <p:nvPr/>
        </p:nvGrpSpPr>
        <p:grpSpPr>
          <a:xfrm>
            <a:off x="1028700" y="1204677"/>
            <a:ext cx="16230600" cy="8252061"/>
            <a:chOff x="0" y="0"/>
            <a:chExt cx="4274726" cy="2173382"/>
          </a:xfrm>
        </p:grpSpPr>
        <p:sp>
          <p:nvSpPr>
            <p:cNvPr id="5" name="Freeform 5"/>
            <p:cNvSpPr/>
            <p:nvPr/>
          </p:nvSpPr>
          <p:spPr>
            <a:xfrm>
              <a:off x="0" y="0"/>
              <a:ext cx="4274726" cy="2173382"/>
            </a:xfrm>
            <a:custGeom>
              <a:avLst/>
              <a:gdLst/>
              <a:ahLst/>
              <a:cxnLst/>
              <a:rect l="l" t="t" r="r" b="b"/>
              <a:pathLst>
                <a:path w="4274726" h="2173382">
                  <a:moveTo>
                    <a:pt x="24327" y="0"/>
                  </a:moveTo>
                  <a:lnTo>
                    <a:pt x="4250399" y="0"/>
                  </a:lnTo>
                  <a:cubicBezTo>
                    <a:pt x="4263834" y="0"/>
                    <a:pt x="4274726" y="10891"/>
                    <a:pt x="4274726" y="24327"/>
                  </a:cubicBezTo>
                  <a:lnTo>
                    <a:pt x="4274726" y="2149055"/>
                  </a:lnTo>
                  <a:cubicBezTo>
                    <a:pt x="4274726" y="2155507"/>
                    <a:pt x="4272163" y="2161695"/>
                    <a:pt x="4267601" y="2166257"/>
                  </a:cubicBezTo>
                  <a:cubicBezTo>
                    <a:pt x="4263039" y="2170819"/>
                    <a:pt x="4256851" y="2173382"/>
                    <a:pt x="4250399" y="2173382"/>
                  </a:cubicBezTo>
                  <a:lnTo>
                    <a:pt x="24327" y="2173382"/>
                  </a:lnTo>
                  <a:cubicBezTo>
                    <a:pt x="10891" y="2173382"/>
                    <a:pt x="0" y="2162491"/>
                    <a:pt x="0" y="2149055"/>
                  </a:cubicBezTo>
                  <a:lnTo>
                    <a:pt x="0" y="24327"/>
                  </a:lnTo>
                  <a:cubicBezTo>
                    <a:pt x="0" y="10891"/>
                    <a:pt x="10891" y="0"/>
                    <a:pt x="24327" y="0"/>
                  </a:cubicBezTo>
                  <a:close/>
                </a:path>
              </a:pathLst>
            </a:custGeom>
            <a:solidFill>
              <a:srgbClr val="FFFFFF"/>
            </a:solidFill>
            <a:ln w="142875" cap="rnd">
              <a:solidFill>
                <a:srgbClr val="FE9555"/>
              </a:solidFill>
              <a:prstDash val="solid"/>
              <a:round/>
            </a:ln>
          </p:spPr>
          <p:txBody>
            <a:bodyPr/>
            <a:lstStyle/>
            <a:p>
              <a:endParaRPr lang="en-US"/>
            </a:p>
          </p:txBody>
        </p:sp>
        <p:sp>
          <p:nvSpPr>
            <p:cNvPr id="6" name="TextBox 6"/>
            <p:cNvSpPr txBox="1"/>
            <p:nvPr/>
          </p:nvSpPr>
          <p:spPr>
            <a:xfrm>
              <a:off x="0" y="-47625"/>
              <a:ext cx="4274726" cy="2221007"/>
            </a:xfrm>
            <a:prstGeom prst="rect">
              <a:avLst/>
            </a:prstGeom>
          </p:spPr>
          <p:txBody>
            <a:bodyPr lIns="50800" tIns="50800" rIns="50800" bIns="50800" rtlCol="0" anchor="ctr"/>
            <a:lstStyle/>
            <a:p>
              <a:pPr algn="ctr">
                <a:lnSpc>
                  <a:spcPts val="3499"/>
                </a:lnSpc>
              </a:pPr>
              <a:r>
                <a:rPr lang="en-US" sz="2499">
                  <a:solidFill>
                    <a:srgbClr val="FE9555"/>
                  </a:solidFill>
                  <a:latin typeface="Open Sans 1"/>
                  <a:ea typeface="Open Sans 1"/>
                  <a:cs typeface="Open Sans 1"/>
                  <a:sym typeface="Open Sans 1"/>
                </a:rPr>
                <a:t> </a:t>
              </a:r>
            </a:p>
            <a:p>
              <a:pPr algn="ctr">
                <a:lnSpc>
                  <a:spcPts val="3499"/>
                </a:lnSpc>
              </a:pPr>
              <a:endParaRPr lang="en-US" sz="2499">
                <a:solidFill>
                  <a:srgbClr val="FE9555"/>
                </a:solidFill>
                <a:latin typeface="Open Sans 1"/>
                <a:ea typeface="Open Sans 1"/>
                <a:cs typeface="Open Sans 1"/>
                <a:sym typeface="Open Sans 1"/>
              </a:endParaRPr>
            </a:p>
            <a:p>
              <a:pPr algn="ctr">
                <a:lnSpc>
                  <a:spcPts val="3499"/>
                </a:lnSpc>
              </a:pPr>
              <a:r>
                <a:rPr lang="en-US" sz="2499">
                  <a:solidFill>
                    <a:srgbClr val="FE9555"/>
                  </a:solidFill>
                  <a:latin typeface="Open Sans 1"/>
                  <a:ea typeface="Open Sans 1"/>
                  <a:cs typeface="Open Sans 1"/>
                  <a:sym typeface="Open Sans 1"/>
                </a:rPr>
                <a:t>​</a:t>
              </a:r>
            </a:p>
            <a:p>
              <a:pPr algn="ctr">
                <a:lnSpc>
                  <a:spcPts val="2659"/>
                </a:lnSpc>
                <a:spcBef>
                  <a:spcPct val="0"/>
                </a:spcBef>
              </a:pPr>
              <a:endParaRPr lang="en-US" sz="2499">
                <a:solidFill>
                  <a:srgbClr val="FE9555"/>
                </a:solidFill>
                <a:latin typeface="Open Sans 1"/>
                <a:ea typeface="Open Sans 1"/>
                <a:cs typeface="Open Sans 1"/>
                <a:sym typeface="Open Sans 1"/>
              </a:endParaRPr>
            </a:p>
          </p:txBody>
        </p:sp>
      </p:grpSp>
      <p:sp>
        <p:nvSpPr>
          <p:cNvPr id="7" name="Freeform 7"/>
          <p:cNvSpPr/>
          <p:nvPr/>
        </p:nvSpPr>
        <p:spPr>
          <a:xfrm>
            <a:off x="14618449" y="-189779"/>
            <a:ext cx="3669551" cy="1582494"/>
          </a:xfrm>
          <a:custGeom>
            <a:avLst/>
            <a:gdLst/>
            <a:ahLst/>
            <a:cxnLst/>
            <a:rect l="l" t="t" r="r" b="b"/>
            <a:pathLst>
              <a:path w="3669551" h="1582494">
                <a:moveTo>
                  <a:pt x="0" y="0"/>
                </a:moveTo>
                <a:lnTo>
                  <a:pt x="3669551" y="0"/>
                </a:lnTo>
                <a:lnTo>
                  <a:pt x="3669551" y="1582494"/>
                </a:lnTo>
                <a:lnTo>
                  <a:pt x="0" y="1582494"/>
                </a:lnTo>
                <a:lnTo>
                  <a:pt x="0" y="0"/>
                </a:lnTo>
                <a:close/>
              </a:path>
            </a:pathLst>
          </a:custGeom>
          <a:blipFill>
            <a:blip r:embed="rId6"/>
            <a:stretch>
              <a:fillRect/>
            </a:stretch>
          </a:blipFill>
        </p:spPr>
        <p:txBody>
          <a:bodyPr/>
          <a:lstStyle/>
          <a:p>
            <a:endParaRPr lang="en-US"/>
          </a:p>
        </p:txBody>
      </p:sp>
      <p:sp>
        <p:nvSpPr>
          <p:cNvPr id="8" name="Freeform 8"/>
          <p:cNvSpPr/>
          <p:nvPr/>
        </p:nvSpPr>
        <p:spPr>
          <a:xfrm>
            <a:off x="3229917" y="-189779"/>
            <a:ext cx="3838021" cy="1588941"/>
          </a:xfrm>
          <a:custGeom>
            <a:avLst/>
            <a:gdLst/>
            <a:ahLst/>
            <a:cxnLst/>
            <a:rect l="l" t="t" r="r" b="b"/>
            <a:pathLst>
              <a:path w="3838021" h="1588941">
                <a:moveTo>
                  <a:pt x="0" y="0"/>
                </a:moveTo>
                <a:lnTo>
                  <a:pt x="3838021" y="0"/>
                </a:lnTo>
                <a:lnTo>
                  <a:pt x="3838021" y="1588941"/>
                </a:lnTo>
                <a:lnTo>
                  <a:pt x="0" y="1588941"/>
                </a:lnTo>
                <a:lnTo>
                  <a:pt x="0" y="0"/>
                </a:lnTo>
                <a:close/>
              </a:path>
            </a:pathLst>
          </a:custGeom>
          <a:blipFill>
            <a:blip r:embed="rId7"/>
            <a:stretch>
              <a:fillRect/>
            </a:stretch>
          </a:blipFill>
        </p:spPr>
        <p:txBody>
          <a:bodyPr/>
          <a:lstStyle/>
          <a:p>
            <a:endParaRPr lang="en-US"/>
          </a:p>
        </p:txBody>
      </p:sp>
      <p:sp>
        <p:nvSpPr>
          <p:cNvPr id="9" name="TextBox 9"/>
          <p:cNvSpPr txBox="1"/>
          <p:nvPr/>
        </p:nvSpPr>
        <p:spPr>
          <a:xfrm>
            <a:off x="3120887" y="1981200"/>
            <a:ext cx="11739763" cy="663254"/>
          </a:xfrm>
          <a:prstGeom prst="rect">
            <a:avLst/>
          </a:prstGeom>
        </p:spPr>
        <p:txBody>
          <a:bodyPr lIns="0" tIns="0" rIns="0" bIns="0" rtlCol="0" anchor="t">
            <a:spAutoFit/>
          </a:bodyPr>
          <a:lstStyle/>
          <a:p>
            <a:pPr algn="ctr">
              <a:lnSpc>
                <a:spcPts val="5442"/>
              </a:lnSpc>
              <a:spcBef>
                <a:spcPct val="0"/>
              </a:spcBef>
            </a:pPr>
            <a:r>
              <a:rPr lang="en-US" sz="3887" b="1">
                <a:solidFill>
                  <a:srgbClr val="FE9555"/>
                </a:solidFill>
                <a:latin typeface="Open Sans 1 Bold"/>
                <a:ea typeface="Open Sans 1 Bold"/>
                <a:cs typeface="Open Sans 1 Bold"/>
                <a:sym typeface="Open Sans 1 Bold"/>
              </a:rPr>
              <a:t>Future Improvements</a:t>
            </a:r>
          </a:p>
        </p:txBody>
      </p:sp>
      <p:sp>
        <p:nvSpPr>
          <p:cNvPr id="10" name="Freeform 10"/>
          <p:cNvSpPr/>
          <p:nvPr/>
        </p:nvSpPr>
        <p:spPr>
          <a:xfrm>
            <a:off x="15166282" y="1404595"/>
            <a:ext cx="1869751" cy="1575063"/>
          </a:xfrm>
          <a:custGeom>
            <a:avLst/>
            <a:gdLst/>
            <a:ahLst/>
            <a:cxnLst/>
            <a:rect l="l" t="t" r="r" b="b"/>
            <a:pathLst>
              <a:path w="1869751" h="1575063">
                <a:moveTo>
                  <a:pt x="0" y="0"/>
                </a:moveTo>
                <a:lnTo>
                  <a:pt x="1869751" y="0"/>
                </a:lnTo>
                <a:lnTo>
                  <a:pt x="1869751" y="1575063"/>
                </a:lnTo>
                <a:lnTo>
                  <a:pt x="0" y="1575063"/>
                </a:lnTo>
                <a:lnTo>
                  <a:pt x="0" y="0"/>
                </a:lnTo>
                <a:close/>
              </a:path>
            </a:pathLst>
          </a:custGeom>
          <a:blipFill>
            <a:blip r:embed="rId8"/>
            <a:stretch>
              <a:fillRect t="-7429" b="-11280"/>
            </a:stretch>
          </a:blipFill>
        </p:spPr>
        <p:txBody>
          <a:bodyPr/>
          <a:lstStyle/>
          <a:p>
            <a:endParaRPr lang="en-US"/>
          </a:p>
        </p:txBody>
      </p:sp>
      <p:sp>
        <p:nvSpPr>
          <p:cNvPr id="11" name="TextBox 11"/>
          <p:cNvSpPr txBox="1"/>
          <p:nvPr/>
        </p:nvSpPr>
        <p:spPr>
          <a:xfrm>
            <a:off x="2461766" y="2970133"/>
            <a:ext cx="13058005" cy="353060"/>
          </a:xfrm>
          <a:prstGeom prst="rect">
            <a:avLst/>
          </a:prstGeom>
        </p:spPr>
        <p:txBody>
          <a:bodyPr lIns="0" tIns="0" rIns="0" bIns="0" rtlCol="0" anchor="t">
            <a:spAutoFit/>
          </a:bodyPr>
          <a:lstStyle/>
          <a:p>
            <a:pPr algn="ctr">
              <a:lnSpc>
                <a:spcPts val="2860"/>
              </a:lnSpc>
              <a:spcBef>
                <a:spcPct val="0"/>
              </a:spcBef>
            </a:pPr>
            <a:r>
              <a:rPr lang="en-US" sz="2200">
                <a:solidFill>
                  <a:srgbClr val="FE9555"/>
                </a:solidFill>
                <a:latin typeface="Open Sans 1"/>
                <a:ea typeface="Open Sans 1"/>
                <a:cs typeface="Open Sans 1"/>
                <a:sym typeface="Open Sans 1"/>
              </a:rPr>
              <a:t>We have identified several opportunities to enhance and expand the project in future iterations</a:t>
            </a:r>
          </a:p>
        </p:txBody>
      </p:sp>
      <p:sp>
        <p:nvSpPr>
          <p:cNvPr id="12" name="TextBox 12"/>
          <p:cNvSpPr txBox="1"/>
          <p:nvPr/>
        </p:nvSpPr>
        <p:spPr>
          <a:xfrm>
            <a:off x="1560443" y="3637518"/>
            <a:ext cx="14709996" cy="4705439"/>
          </a:xfrm>
          <a:prstGeom prst="rect">
            <a:avLst/>
          </a:prstGeom>
        </p:spPr>
        <p:txBody>
          <a:bodyPr lIns="0" tIns="0" rIns="0" bIns="0" rtlCol="0" anchor="t">
            <a:spAutoFit/>
          </a:bodyPr>
          <a:lstStyle/>
          <a:p>
            <a:pPr algn="ctr">
              <a:lnSpc>
                <a:spcPts val="2915"/>
              </a:lnSpc>
            </a:pPr>
            <a:endParaRPr/>
          </a:p>
          <a:p>
            <a:pPr algn="ctr">
              <a:lnSpc>
                <a:spcPts val="2915"/>
              </a:lnSpc>
              <a:spcBef>
                <a:spcPct val="0"/>
              </a:spcBef>
            </a:pPr>
            <a:r>
              <a:rPr lang="en-US" sz="2243" b="1">
                <a:solidFill>
                  <a:srgbClr val="FE9555"/>
                </a:solidFill>
                <a:latin typeface="Open Sans 1 Bold"/>
                <a:ea typeface="Open Sans 1 Bold"/>
                <a:cs typeface="Open Sans 1 Bold"/>
                <a:sym typeface="Open Sans 1 Bold"/>
              </a:rPr>
              <a:t>Wrong Parking Detection:</a:t>
            </a:r>
            <a:r>
              <a:rPr lang="en-US" sz="2243">
                <a:solidFill>
                  <a:srgbClr val="FE9555"/>
                </a:solidFill>
                <a:latin typeface="Open Sans 1"/>
                <a:ea typeface="Open Sans 1"/>
                <a:cs typeface="Open Sans 1"/>
                <a:sym typeface="Open Sans 1"/>
              </a:rPr>
              <a:t> Extend the model’s capabilities to detect incorrect or illegal parking behavior, such as vehicles occupying two slots or blocking other cars.</a:t>
            </a:r>
          </a:p>
          <a:p>
            <a:pPr algn="ctr">
              <a:lnSpc>
                <a:spcPts val="2915"/>
              </a:lnSpc>
              <a:spcBef>
                <a:spcPct val="0"/>
              </a:spcBef>
            </a:pPr>
            <a:endParaRPr lang="en-US" sz="2243">
              <a:solidFill>
                <a:srgbClr val="FE9555"/>
              </a:solidFill>
              <a:latin typeface="Open Sans 1"/>
              <a:ea typeface="Open Sans 1"/>
              <a:cs typeface="Open Sans 1"/>
              <a:sym typeface="Open Sans 1"/>
            </a:endParaRPr>
          </a:p>
          <a:p>
            <a:pPr algn="ctr">
              <a:lnSpc>
                <a:spcPts val="2915"/>
              </a:lnSpc>
              <a:spcBef>
                <a:spcPct val="0"/>
              </a:spcBef>
            </a:pPr>
            <a:r>
              <a:rPr lang="en-US" sz="2243" b="1">
                <a:solidFill>
                  <a:srgbClr val="FE9555"/>
                </a:solidFill>
                <a:latin typeface="Open Sans 1 Bold"/>
                <a:ea typeface="Open Sans 1 Bold"/>
                <a:cs typeface="Open Sans 1 Bold"/>
                <a:sym typeface="Open Sans 1 Bold"/>
              </a:rPr>
              <a:t>Vehicle Type Classification:</a:t>
            </a:r>
            <a:r>
              <a:rPr lang="en-US" sz="2243">
                <a:solidFill>
                  <a:srgbClr val="FE9555"/>
                </a:solidFill>
                <a:latin typeface="Open Sans 1"/>
                <a:ea typeface="Open Sans 1"/>
                <a:cs typeface="Open Sans 1"/>
                <a:sym typeface="Open Sans 1"/>
              </a:rPr>
              <a:t> Train the model to classify vehicle types (e.g., cars, trucks, motorcycles) to enable better understanding of parking patterns.</a:t>
            </a:r>
          </a:p>
          <a:p>
            <a:pPr algn="ctr">
              <a:lnSpc>
                <a:spcPts val="2915"/>
              </a:lnSpc>
              <a:spcBef>
                <a:spcPct val="0"/>
              </a:spcBef>
            </a:pPr>
            <a:endParaRPr lang="en-US" sz="2243">
              <a:solidFill>
                <a:srgbClr val="FE9555"/>
              </a:solidFill>
              <a:latin typeface="Open Sans 1"/>
              <a:ea typeface="Open Sans 1"/>
              <a:cs typeface="Open Sans 1"/>
              <a:sym typeface="Open Sans 1"/>
            </a:endParaRPr>
          </a:p>
          <a:p>
            <a:pPr algn="ctr">
              <a:lnSpc>
                <a:spcPts val="2915"/>
              </a:lnSpc>
              <a:spcBef>
                <a:spcPct val="0"/>
              </a:spcBef>
            </a:pPr>
            <a:r>
              <a:rPr lang="en-US" sz="2243" b="1">
                <a:solidFill>
                  <a:srgbClr val="FE9555"/>
                </a:solidFill>
                <a:latin typeface="Open Sans 1 Bold"/>
                <a:ea typeface="Open Sans 1 Bold"/>
                <a:cs typeface="Open Sans 1 Bold"/>
                <a:sym typeface="Open Sans 1 Bold"/>
              </a:rPr>
              <a:t>Drone-Assisted Parking Guidance:</a:t>
            </a:r>
            <a:r>
              <a:rPr lang="en-US" sz="2243">
                <a:solidFill>
                  <a:srgbClr val="FE9555"/>
                </a:solidFill>
                <a:latin typeface="Open Sans 1"/>
                <a:ea typeface="Open Sans 1"/>
                <a:cs typeface="Open Sans 1"/>
                <a:sym typeface="Open Sans 1"/>
              </a:rPr>
              <a:t> Enable the drone to act as a smart assistant, guiding vehicles to available parking spots in real time using visual and spatial feedback.</a:t>
            </a:r>
          </a:p>
          <a:p>
            <a:pPr algn="ctr">
              <a:lnSpc>
                <a:spcPts val="2915"/>
              </a:lnSpc>
              <a:spcBef>
                <a:spcPct val="0"/>
              </a:spcBef>
            </a:pPr>
            <a:endParaRPr lang="en-US" sz="2243">
              <a:solidFill>
                <a:srgbClr val="FE9555"/>
              </a:solidFill>
              <a:latin typeface="Open Sans 1"/>
              <a:ea typeface="Open Sans 1"/>
              <a:cs typeface="Open Sans 1"/>
              <a:sym typeface="Open Sans 1"/>
            </a:endParaRPr>
          </a:p>
          <a:p>
            <a:pPr algn="ctr">
              <a:lnSpc>
                <a:spcPts val="2915"/>
              </a:lnSpc>
              <a:spcBef>
                <a:spcPct val="0"/>
              </a:spcBef>
            </a:pPr>
            <a:r>
              <a:rPr lang="en-US" sz="2243" b="1">
                <a:solidFill>
                  <a:srgbClr val="FE9555"/>
                </a:solidFill>
                <a:latin typeface="Open Sans 1 Bold"/>
                <a:ea typeface="Open Sans 1 Bold"/>
                <a:cs typeface="Open Sans 1 Bold"/>
                <a:sym typeface="Open Sans 1 Bold"/>
              </a:rPr>
              <a:t>Improved Accuracy and Dataset Expansion:</a:t>
            </a:r>
            <a:r>
              <a:rPr lang="en-US" sz="2243">
                <a:solidFill>
                  <a:srgbClr val="FE9555"/>
                </a:solidFill>
                <a:latin typeface="Open Sans 1"/>
                <a:ea typeface="Open Sans 1"/>
                <a:cs typeface="Open Sans 1"/>
                <a:sym typeface="Open Sans 1"/>
              </a:rPr>
              <a:t> Collect more diverse and high-quality data under various conditions to improve model robustness and overall detection accuracy.</a:t>
            </a:r>
          </a:p>
          <a:p>
            <a:pPr algn="ctr">
              <a:lnSpc>
                <a:spcPts val="2915"/>
              </a:lnSpc>
              <a:spcBef>
                <a:spcPct val="0"/>
              </a:spcBef>
            </a:pPr>
            <a:endParaRPr lang="en-US" sz="2243">
              <a:solidFill>
                <a:srgbClr val="FE9555"/>
              </a:solidFill>
              <a:latin typeface="Open Sans 1"/>
              <a:ea typeface="Open Sans 1"/>
              <a:cs typeface="Open Sans 1"/>
              <a:sym typeface="Open Sans 1"/>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E6D3"/>
        </a:solidFill>
        <a:effectLst/>
      </p:bgPr>
    </p:bg>
    <p:spTree>
      <p:nvGrpSpPr>
        <p:cNvPr id="1" name=""/>
        <p:cNvGrpSpPr/>
        <p:nvPr/>
      </p:nvGrpSpPr>
      <p:grpSpPr>
        <a:xfrm>
          <a:off x="0" y="0"/>
          <a:ext cx="0" cy="0"/>
          <a:chOff x="0" y="0"/>
          <a:chExt cx="0" cy="0"/>
        </a:xfrm>
      </p:grpSpPr>
      <p:grpSp>
        <p:nvGrpSpPr>
          <p:cNvPr id="2" name="Group 2"/>
          <p:cNvGrpSpPr/>
          <p:nvPr/>
        </p:nvGrpSpPr>
        <p:grpSpPr>
          <a:xfrm>
            <a:off x="1425383" y="1428750"/>
            <a:ext cx="16230600" cy="8229600"/>
            <a:chOff x="0" y="0"/>
            <a:chExt cx="4274726" cy="2167467"/>
          </a:xfrm>
        </p:grpSpPr>
        <p:sp>
          <p:nvSpPr>
            <p:cNvPr id="3" name="Freeform 3"/>
            <p:cNvSpPr/>
            <p:nvPr/>
          </p:nvSpPr>
          <p:spPr>
            <a:xfrm>
              <a:off x="0" y="0"/>
              <a:ext cx="4274726" cy="2167467"/>
            </a:xfrm>
            <a:custGeom>
              <a:avLst/>
              <a:gdLst/>
              <a:ahLst/>
              <a:cxnLst/>
              <a:rect l="l" t="t" r="r" b="b"/>
              <a:pathLst>
                <a:path w="4274726" h="2167467">
                  <a:moveTo>
                    <a:pt x="24327" y="0"/>
                  </a:moveTo>
                  <a:lnTo>
                    <a:pt x="4250399" y="0"/>
                  </a:lnTo>
                  <a:cubicBezTo>
                    <a:pt x="4263834" y="0"/>
                    <a:pt x="4274726" y="10891"/>
                    <a:pt x="4274726" y="24327"/>
                  </a:cubicBezTo>
                  <a:lnTo>
                    <a:pt x="4274726" y="2143140"/>
                  </a:lnTo>
                  <a:cubicBezTo>
                    <a:pt x="4274726" y="2156575"/>
                    <a:pt x="4263834" y="2167467"/>
                    <a:pt x="4250399" y="2167467"/>
                  </a:cubicBezTo>
                  <a:lnTo>
                    <a:pt x="24327" y="2167467"/>
                  </a:lnTo>
                  <a:cubicBezTo>
                    <a:pt x="10891" y="2167467"/>
                    <a:pt x="0" y="2156575"/>
                    <a:pt x="0" y="2143140"/>
                  </a:cubicBezTo>
                  <a:lnTo>
                    <a:pt x="0" y="24327"/>
                  </a:lnTo>
                  <a:cubicBezTo>
                    <a:pt x="0" y="10891"/>
                    <a:pt x="10891" y="0"/>
                    <a:pt x="24327" y="0"/>
                  </a:cubicBezTo>
                  <a:close/>
                </a:path>
              </a:pathLst>
            </a:custGeom>
            <a:solidFill>
              <a:srgbClr val="FFFFFF"/>
            </a:solidFill>
            <a:ln w="142875" cap="rnd">
              <a:solidFill>
                <a:srgbClr val="FF914D"/>
              </a:solidFill>
              <a:prstDash val="solid"/>
              <a:round/>
            </a:ln>
          </p:spPr>
          <p:txBody>
            <a:bodyPr/>
            <a:lstStyle/>
            <a:p>
              <a:endParaRPr lang="en-US"/>
            </a:p>
          </p:txBody>
        </p:sp>
        <p:sp>
          <p:nvSpPr>
            <p:cNvPr id="4" name="TextBox 4"/>
            <p:cNvSpPr txBox="1"/>
            <p:nvPr/>
          </p:nvSpPr>
          <p:spPr>
            <a:xfrm>
              <a:off x="0" y="-28575"/>
              <a:ext cx="4274726" cy="2196042"/>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14618449" y="0"/>
            <a:ext cx="3669551" cy="1374394"/>
          </a:xfrm>
          <a:custGeom>
            <a:avLst/>
            <a:gdLst/>
            <a:ahLst/>
            <a:cxnLst/>
            <a:rect l="l" t="t" r="r" b="b"/>
            <a:pathLst>
              <a:path w="3669551" h="1374394">
                <a:moveTo>
                  <a:pt x="0" y="0"/>
                </a:moveTo>
                <a:lnTo>
                  <a:pt x="3669551" y="0"/>
                </a:lnTo>
                <a:lnTo>
                  <a:pt x="3669551" y="1374394"/>
                </a:lnTo>
                <a:lnTo>
                  <a:pt x="0" y="1374394"/>
                </a:lnTo>
                <a:lnTo>
                  <a:pt x="0" y="0"/>
                </a:lnTo>
                <a:close/>
              </a:path>
            </a:pathLst>
          </a:custGeom>
          <a:blipFill>
            <a:blip r:embed="rId2"/>
            <a:stretch>
              <a:fillRect t="-15141"/>
            </a:stretch>
          </a:blipFill>
        </p:spPr>
        <p:txBody>
          <a:bodyPr/>
          <a:lstStyle/>
          <a:p>
            <a:endParaRPr lang="en-US"/>
          </a:p>
        </p:txBody>
      </p:sp>
      <p:sp>
        <p:nvSpPr>
          <p:cNvPr id="6" name="Freeform 6"/>
          <p:cNvSpPr/>
          <p:nvPr/>
        </p:nvSpPr>
        <p:spPr>
          <a:xfrm>
            <a:off x="3120887" y="94889"/>
            <a:ext cx="3837524" cy="1184615"/>
          </a:xfrm>
          <a:custGeom>
            <a:avLst/>
            <a:gdLst/>
            <a:ahLst/>
            <a:cxnLst/>
            <a:rect l="l" t="t" r="r" b="b"/>
            <a:pathLst>
              <a:path w="3837524" h="1184615">
                <a:moveTo>
                  <a:pt x="0" y="0"/>
                </a:moveTo>
                <a:lnTo>
                  <a:pt x="3837524" y="0"/>
                </a:lnTo>
                <a:lnTo>
                  <a:pt x="3837524" y="1184616"/>
                </a:lnTo>
                <a:lnTo>
                  <a:pt x="0" y="1184616"/>
                </a:lnTo>
                <a:lnTo>
                  <a:pt x="0" y="0"/>
                </a:lnTo>
                <a:close/>
              </a:path>
            </a:pathLst>
          </a:custGeom>
          <a:blipFill>
            <a:blip r:embed="rId3"/>
            <a:stretch>
              <a:fillRect t="-26316" b="-7797"/>
            </a:stretch>
          </a:blipFill>
        </p:spPr>
        <p:txBody>
          <a:bodyPr/>
          <a:lstStyle/>
          <a:p>
            <a:endParaRPr lang="en-US"/>
          </a:p>
        </p:txBody>
      </p:sp>
      <p:sp>
        <p:nvSpPr>
          <p:cNvPr id="7" name="Freeform 7"/>
          <p:cNvSpPr/>
          <p:nvPr/>
        </p:nvSpPr>
        <p:spPr>
          <a:xfrm flipV="1">
            <a:off x="0" y="0"/>
            <a:ext cx="3120887" cy="4114800"/>
          </a:xfrm>
          <a:custGeom>
            <a:avLst/>
            <a:gdLst/>
            <a:ahLst/>
            <a:cxnLst/>
            <a:rect l="l" t="t" r="r" b="b"/>
            <a:pathLst>
              <a:path w="3120887" h="4114800">
                <a:moveTo>
                  <a:pt x="0" y="4114800"/>
                </a:moveTo>
                <a:lnTo>
                  <a:pt x="3120887" y="4114800"/>
                </a:lnTo>
                <a:lnTo>
                  <a:pt x="3120887" y="0"/>
                </a:lnTo>
                <a:lnTo>
                  <a:pt x="0" y="0"/>
                </a:lnTo>
                <a:lnTo>
                  <a:pt x="0" y="411480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8" name="Freeform 8"/>
          <p:cNvSpPr/>
          <p:nvPr/>
        </p:nvSpPr>
        <p:spPr>
          <a:xfrm flipH="1">
            <a:off x="15167113" y="6172200"/>
            <a:ext cx="3120887" cy="4114800"/>
          </a:xfrm>
          <a:custGeom>
            <a:avLst/>
            <a:gdLst/>
            <a:ahLst/>
            <a:cxnLst/>
            <a:rect l="l" t="t" r="r" b="b"/>
            <a:pathLst>
              <a:path w="3120887" h="4114800">
                <a:moveTo>
                  <a:pt x="3120887" y="0"/>
                </a:moveTo>
                <a:lnTo>
                  <a:pt x="0" y="0"/>
                </a:lnTo>
                <a:lnTo>
                  <a:pt x="0" y="4114800"/>
                </a:lnTo>
                <a:lnTo>
                  <a:pt x="3120887" y="4114800"/>
                </a:lnTo>
                <a:lnTo>
                  <a:pt x="3120887"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9" name="TextBox 9"/>
          <p:cNvSpPr txBox="1"/>
          <p:nvPr/>
        </p:nvSpPr>
        <p:spPr>
          <a:xfrm>
            <a:off x="3703168" y="1931182"/>
            <a:ext cx="11217907" cy="688271"/>
          </a:xfrm>
          <a:prstGeom prst="rect">
            <a:avLst/>
          </a:prstGeom>
        </p:spPr>
        <p:txBody>
          <a:bodyPr lIns="0" tIns="0" rIns="0" bIns="0" rtlCol="0" anchor="t">
            <a:spAutoFit/>
          </a:bodyPr>
          <a:lstStyle/>
          <a:p>
            <a:pPr algn="ctr">
              <a:lnSpc>
                <a:spcPts val="5638"/>
              </a:lnSpc>
            </a:pPr>
            <a:r>
              <a:rPr lang="en-US" sz="4027" b="1">
                <a:solidFill>
                  <a:srgbClr val="FF914D"/>
                </a:solidFill>
                <a:latin typeface="Open Sans 2 Bold"/>
                <a:ea typeface="Open Sans 2 Bold"/>
                <a:cs typeface="Open Sans 2 Bold"/>
                <a:sym typeface="Open Sans 2 Bold"/>
              </a:rPr>
              <a:t>The reasons behind our selection</a:t>
            </a:r>
          </a:p>
        </p:txBody>
      </p:sp>
      <p:sp>
        <p:nvSpPr>
          <p:cNvPr id="10" name="TextBox 10"/>
          <p:cNvSpPr txBox="1"/>
          <p:nvPr/>
        </p:nvSpPr>
        <p:spPr>
          <a:xfrm>
            <a:off x="2281101" y="3354014"/>
            <a:ext cx="13876826" cy="5026038"/>
          </a:xfrm>
          <a:prstGeom prst="rect">
            <a:avLst/>
          </a:prstGeom>
        </p:spPr>
        <p:txBody>
          <a:bodyPr lIns="0" tIns="0" rIns="0" bIns="0" rtlCol="0" anchor="t">
            <a:spAutoFit/>
          </a:bodyPr>
          <a:lstStyle/>
          <a:p>
            <a:pPr algn="ctr">
              <a:lnSpc>
                <a:spcPts val="3373"/>
              </a:lnSpc>
              <a:spcBef>
                <a:spcPct val="0"/>
              </a:spcBef>
            </a:pPr>
            <a:r>
              <a:rPr lang="en-US" sz="2409" b="1">
                <a:solidFill>
                  <a:srgbClr val="FF914D"/>
                </a:solidFill>
                <a:latin typeface="Open Sans 1 Bold"/>
                <a:ea typeface="Open Sans 1 Bold"/>
                <a:cs typeface="Open Sans 1 Bold"/>
                <a:sym typeface="Open Sans 1 Bold"/>
              </a:rPr>
              <a:t>• Real-Time Monitoring</a:t>
            </a:r>
          </a:p>
          <a:p>
            <a:pPr algn="ctr">
              <a:lnSpc>
                <a:spcPts val="3373"/>
              </a:lnSpc>
              <a:spcBef>
                <a:spcPct val="0"/>
              </a:spcBef>
            </a:pPr>
            <a:r>
              <a:rPr lang="en-US" sz="2409">
                <a:solidFill>
                  <a:srgbClr val="FF914D"/>
                </a:solidFill>
                <a:latin typeface="Open Sans 1"/>
                <a:ea typeface="Open Sans 1"/>
                <a:cs typeface="Open Sans 1"/>
                <a:sym typeface="Open Sans 1"/>
              </a:rPr>
              <a:t>The system provides instant updates on parking availability by analyzing live drone footage.</a:t>
            </a:r>
          </a:p>
          <a:p>
            <a:pPr algn="ctr">
              <a:lnSpc>
                <a:spcPts val="3373"/>
              </a:lnSpc>
              <a:spcBef>
                <a:spcPct val="0"/>
              </a:spcBef>
            </a:pPr>
            <a:endParaRPr lang="en-US" sz="2409">
              <a:solidFill>
                <a:srgbClr val="FF914D"/>
              </a:solidFill>
              <a:latin typeface="Open Sans 1"/>
              <a:ea typeface="Open Sans 1"/>
              <a:cs typeface="Open Sans 1"/>
              <a:sym typeface="Open Sans 1"/>
            </a:endParaRPr>
          </a:p>
          <a:p>
            <a:pPr algn="ctr">
              <a:lnSpc>
                <a:spcPts val="3373"/>
              </a:lnSpc>
              <a:spcBef>
                <a:spcPct val="0"/>
              </a:spcBef>
            </a:pPr>
            <a:r>
              <a:rPr lang="en-US" sz="2409" b="1">
                <a:solidFill>
                  <a:srgbClr val="FF914D"/>
                </a:solidFill>
                <a:latin typeface="Open Sans 1 Bold"/>
                <a:ea typeface="Open Sans 1 Bold"/>
                <a:cs typeface="Open Sans 1 Bold"/>
                <a:sym typeface="Open Sans 1 Bold"/>
              </a:rPr>
              <a:t> • Scalable and Easy to Deploy</a:t>
            </a:r>
          </a:p>
          <a:p>
            <a:pPr algn="ctr">
              <a:lnSpc>
                <a:spcPts val="3373"/>
              </a:lnSpc>
              <a:spcBef>
                <a:spcPct val="0"/>
              </a:spcBef>
            </a:pPr>
            <a:r>
              <a:rPr lang="en-US" sz="2409">
                <a:solidFill>
                  <a:srgbClr val="FF914D"/>
                </a:solidFill>
                <a:latin typeface="Open Sans 1"/>
                <a:ea typeface="Open Sans 1"/>
                <a:cs typeface="Open Sans 1"/>
                <a:sym typeface="Open Sans 1"/>
              </a:rPr>
              <a:t>Can be expanded to new locations by simply adjusting the drone’s flight path — no extra hardware needed.</a:t>
            </a:r>
          </a:p>
          <a:p>
            <a:pPr algn="ctr">
              <a:lnSpc>
                <a:spcPts val="3373"/>
              </a:lnSpc>
              <a:spcBef>
                <a:spcPct val="0"/>
              </a:spcBef>
            </a:pPr>
            <a:endParaRPr lang="en-US" sz="2409">
              <a:solidFill>
                <a:srgbClr val="FF914D"/>
              </a:solidFill>
              <a:latin typeface="Open Sans 1"/>
              <a:ea typeface="Open Sans 1"/>
              <a:cs typeface="Open Sans 1"/>
              <a:sym typeface="Open Sans 1"/>
            </a:endParaRPr>
          </a:p>
          <a:p>
            <a:pPr algn="ctr">
              <a:lnSpc>
                <a:spcPts val="3373"/>
              </a:lnSpc>
              <a:spcBef>
                <a:spcPct val="0"/>
              </a:spcBef>
            </a:pPr>
            <a:r>
              <a:rPr lang="en-US" sz="2409" b="1">
                <a:solidFill>
                  <a:srgbClr val="FF914D"/>
                </a:solidFill>
                <a:latin typeface="Open Sans 1 Bold"/>
                <a:ea typeface="Open Sans 1 Bold"/>
                <a:cs typeface="Open Sans 1 Bold"/>
                <a:sym typeface="Open Sans 1 Bold"/>
              </a:rPr>
              <a:t> • Ideal for Outdoor or Complex Areas</a:t>
            </a:r>
          </a:p>
          <a:p>
            <a:pPr algn="ctr">
              <a:lnSpc>
                <a:spcPts val="3373"/>
              </a:lnSpc>
              <a:spcBef>
                <a:spcPct val="0"/>
              </a:spcBef>
            </a:pPr>
            <a:r>
              <a:rPr lang="en-US" sz="2409">
                <a:solidFill>
                  <a:srgbClr val="FF914D"/>
                </a:solidFill>
                <a:latin typeface="Open Sans 1"/>
                <a:ea typeface="Open Sans 1"/>
                <a:cs typeface="Open Sans 1"/>
                <a:sym typeface="Open Sans 1"/>
              </a:rPr>
              <a:t>Works well in environments where traditional sensors are hard or costly to install.</a:t>
            </a:r>
          </a:p>
          <a:p>
            <a:pPr algn="ctr">
              <a:lnSpc>
                <a:spcPts val="3373"/>
              </a:lnSpc>
              <a:spcBef>
                <a:spcPct val="0"/>
              </a:spcBef>
            </a:pPr>
            <a:endParaRPr lang="en-US" sz="2409">
              <a:solidFill>
                <a:srgbClr val="FF914D"/>
              </a:solidFill>
              <a:latin typeface="Open Sans 1"/>
              <a:ea typeface="Open Sans 1"/>
              <a:cs typeface="Open Sans 1"/>
              <a:sym typeface="Open Sans 1"/>
            </a:endParaRPr>
          </a:p>
          <a:p>
            <a:pPr algn="ctr">
              <a:lnSpc>
                <a:spcPts val="3373"/>
              </a:lnSpc>
              <a:spcBef>
                <a:spcPct val="0"/>
              </a:spcBef>
            </a:pPr>
            <a:r>
              <a:rPr lang="en-US" sz="2409" b="1">
                <a:solidFill>
                  <a:srgbClr val="FF914D"/>
                </a:solidFill>
                <a:latin typeface="Open Sans 1 Bold"/>
                <a:ea typeface="Open Sans 1 Bold"/>
                <a:cs typeface="Open Sans 1 Bold"/>
                <a:sym typeface="Open Sans 1 Bold"/>
              </a:rPr>
              <a:t> • Insightful Data for Management</a:t>
            </a:r>
          </a:p>
          <a:p>
            <a:pPr algn="ctr">
              <a:lnSpc>
                <a:spcPts val="3373"/>
              </a:lnSpc>
              <a:spcBef>
                <a:spcPct val="0"/>
              </a:spcBef>
            </a:pPr>
            <a:r>
              <a:rPr lang="en-US" sz="2409">
                <a:solidFill>
                  <a:srgbClr val="FF914D"/>
                </a:solidFill>
                <a:latin typeface="Open Sans 1"/>
                <a:ea typeface="Open Sans 1"/>
                <a:cs typeface="Open Sans 1"/>
                <a:sym typeface="Open Sans 1"/>
              </a:rPr>
              <a:t>Offers analytics like peak usage times and occupancy trends to optimize parking space utilization.</a:t>
            </a:r>
          </a:p>
        </p:txBody>
      </p:sp>
      <p:sp>
        <p:nvSpPr>
          <p:cNvPr id="11" name="Freeform 11"/>
          <p:cNvSpPr/>
          <p:nvPr/>
        </p:nvSpPr>
        <p:spPr>
          <a:xfrm>
            <a:off x="15502100" y="1626932"/>
            <a:ext cx="1890207" cy="1512644"/>
          </a:xfrm>
          <a:custGeom>
            <a:avLst/>
            <a:gdLst/>
            <a:ahLst/>
            <a:cxnLst/>
            <a:rect l="l" t="t" r="r" b="b"/>
            <a:pathLst>
              <a:path w="1890207" h="1512644">
                <a:moveTo>
                  <a:pt x="0" y="0"/>
                </a:moveTo>
                <a:lnTo>
                  <a:pt x="1890207" y="0"/>
                </a:lnTo>
                <a:lnTo>
                  <a:pt x="1890207" y="1512644"/>
                </a:lnTo>
                <a:lnTo>
                  <a:pt x="0" y="1512644"/>
                </a:lnTo>
                <a:lnTo>
                  <a:pt x="0" y="0"/>
                </a:lnTo>
                <a:close/>
              </a:path>
            </a:pathLst>
          </a:custGeom>
          <a:blipFill>
            <a:blip r:embed="rId8"/>
            <a:stretch>
              <a:fillRect t="-7410" b="-17550"/>
            </a:stretch>
          </a:blipFill>
        </p:spPr>
        <p:txBody>
          <a:bodyPr/>
          <a:lstStyle/>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E6D3"/>
        </a:solidFill>
        <a:effectLst/>
      </p:bgPr>
    </p:bg>
    <p:spTree>
      <p:nvGrpSpPr>
        <p:cNvPr id="1" name=""/>
        <p:cNvGrpSpPr/>
        <p:nvPr/>
      </p:nvGrpSpPr>
      <p:grpSpPr>
        <a:xfrm>
          <a:off x="0" y="0"/>
          <a:ext cx="0" cy="0"/>
          <a:chOff x="0" y="0"/>
          <a:chExt cx="0" cy="0"/>
        </a:xfrm>
      </p:grpSpPr>
      <p:sp>
        <p:nvSpPr>
          <p:cNvPr id="2" name="Freeform 2"/>
          <p:cNvSpPr/>
          <p:nvPr/>
        </p:nvSpPr>
        <p:spPr>
          <a:xfrm flipV="1">
            <a:off x="0" y="0"/>
            <a:ext cx="3120887" cy="4114800"/>
          </a:xfrm>
          <a:custGeom>
            <a:avLst/>
            <a:gdLst/>
            <a:ahLst/>
            <a:cxnLst/>
            <a:rect l="l" t="t" r="r" b="b"/>
            <a:pathLst>
              <a:path w="3120887" h="4114800">
                <a:moveTo>
                  <a:pt x="0" y="4114800"/>
                </a:moveTo>
                <a:lnTo>
                  <a:pt x="3120887" y="4114800"/>
                </a:lnTo>
                <a:lnTo>
                  <a:pt x="3120887"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3" name="Group 3"/>
          <p:cNvGrpSpPr/>
          <p:nvPr/>
        </p:nvGrpSpPr>
        <p:grpSpPr>
          <a:xfrm>
            <a:off x="1415858" y="1428750"/>
            <a:ext cx="16230600" cy="8229600"/>
            <a:chOff x="0" y="0"/>
            <a:chExt cx="4274726" cy="2167467"/>
          </a:xfrm>
        </p:grpSpPr>
        <p:sp>
          <p:nvSpPr>
            <p:cNvPr id="4" name="Freeform 4"/>
            <p:cNvSpPr/>
            <p:nvPr/>
          </p:nvSpPr>
          <p:spPr>
            <a:xfrm>
              <a:off x="0" y="0"/>
              <a:ext cx="4274726" cy="2167467"/>
            </a:xfrm>
            <a:custGeom>
              <a:avLst/>
              <a:gdLst/>
              <a:ahLst/>
              <a:cxnLst/>
              <a:rect l="l" t="t" r="r" b="b"/>
              <a:pathLst>
                <a:path w="4274726" h="2167467">
                  <a:moveTo>
                    <a:pt x="24327" y="0"/>
                  </a:moveTo>
                  <a:lnTo>
                    <a:pt x="4250399" y="0"/>
                  </a:lnTo>
                  <a:cubicBezTo>
                    <a:pt x="4263834" y="0"/>
                    <a:pt x="4274726" y="10891"/>
                    <a:pt x="4274726" y="24327"/>
                  </a:cubicBezTo>
                  <a:lnTo>
                    <a:pt x="4274726" y="2143140"/>
                  </a:lnTo>
                  <a:cubicBezTo>
                    <a:pt x="4274726" y="2156575"/>
                    <a:pt x="4263834" y="2167467"/>
                    <a:pt x="4250399" y="2167467"/>
                  </a:cubicBezTo>
                  <a:lnTo>
                    <a:pt x="24327" y="2167467"/>
                  </a:lnTo>
                  <a:cubicBezTo>
                    <a:pt x="10891" y="2167467"/>
                    <a:pt x="0" y="2156575"/>
                    <a:pt x="0" y="2143140"/>
                  </a:cubicBezTo>
                  <a:lnTo>
                    <a:pt x="0" y="24327"/>
                  </a:lnTo>
                  <a:cubicBezTo>
                    <a:pt x="0" y="10891"/>
                    <a:pt x="10891" y="0"/>
                    <a:pt x="24327" y="0"/>
                  </a:cubicBezTo>
                  <a:close/>
                </a:path>
              </a:pathLst>
            </a:custGeom>
            <a:solidFill>
              <a:srgbClr val="FFFFFF"/>
            </a:solidFill>
            <a:ln w="142875" cap="rnd">
              <a:solidFill>
                <a:srgbClr val="FF914D"/>
              </a:solidFill>
              <a:prstDash val="solid"/>
              <a:round/>
            </a:ln>
          </p:spPr>
          <p:txBody>
            <a:bodyPr/>
            <a:lstStyle/>
            <a:p>
              <a:endParaRPr lang="en-US"/>
            </a:p>
          </p:txBody>
        </p:sp>
        <p:sp>
          <p:nvSpPr>
            <p:cNvPr id="5" name="TextBox 5"/>
            <p:cNvSpPr txBox="1"/>
            <p:nvPr/>
          </p:nvSpPr>
          <p:spPr>
            <a:xfrm>
              <a:off x="0" y="-28575"/>
              <a:ext cx="4274726" cy="2196042"/>
            </a:xfrm>
            <a:prstGeom prst="rect">
              <a:avLst/>
            </a:prstGeom>
          </p:spPr>
          <p:txBody>
            <a:bodyPr lIns="50800" tIns="50800" rIns="50800" bIns="50800" rtlCol="0" anchor="ctr"/>
            <a:lstStyle/>
            <a:p>
              <a:pPr algn="ctr">
                <a:lnSpc>
                  <a:spcPts val="2659"/>
                </a:lnSpc>
                <a:spcBef>
                  <a:spcPct val="0"/>
                </a:spcBef>
              </a:pPr>
              <a:endParaRPr/>
            </a:p>
          </p:txBody>
        </p:sp>
      </p:grpSp>
      <p:sp>
        <p:nvSpPr>
          <p:cNvPr id="6" name="Freeform 6"/>
          <p:cNvSpPr/>
          <p:nvPr/>
        </p:nvSpPr>
        <p:spPr>
          <a:xfrm>
            <a:off x="3120887" y="198939"/>
            <a:ext cx="3837524" cy="1184615"/>
          </a:xfrm>
          <a:custGeom>
            <a:avLst/>
            <a:gdLst/>
            <a:ahLst/>
            <a:cxnLst/>
            <a:rect l="l" t="t" r="r" b="b"/>
            <a:pathLst>
              <a:path w="3837524" h="1184615">
                <a:moveTo>
                  <a:pt x="0" y="0"/>
                </a:moveTo>
                <a:lnTo>
                  <a:pt x="3837524" y="0"/>
                </a:lnTo>
                <a:lnTo>
                  <a:pt x="3837524" y="1184616"/>
                </a:lnTo>
                <a:lnTo>
                  <a:pt x="0" y="1184616"/>
                </a:lnTo>
                <a:lnTo>
                  <a:pt x="0" y="0"/>
                </a:lnTo>
                <a:close/>
              </a:path>
            </a:pathLst>
          </a:custGeom>
          <a:blipFill>
            <a:blip r:embed="rId4"/>
            <a:stretch>
              <a:fillRect t="-26316" b="-7797"/>
            </a:stretch>
          </a:blipFill>
        </p:spPr>
        <p:txBody>
          <a:bodyPr/>
          <a:lstStyle/>
          <a:p>
            <a:endParaRPr lang="en-US"/>
          </a:p>
        </p:txBody>
      </p:sp>
      <p:sp>
        <p:nvSpPr>
          <p:cNvPr id="7" name="Freeform 7"/>
          <p:cNvSpPr/>
          <p:nvPr/>
        </p:nvSpPr>
        <p:spPr>
          <a:xfrm>
            <a:off x="14618449" y="99470"/>
            <a:ext cx="3669551" cy="1383555"/>
          </a:xfrm>
          <a:custGeom>
            <a:avLst/>
            <a:gdLst/>
            <a:ahLst/>
            <a:cxnLst/>
            <a:rect l="l" t="t" r="r" b="b"/>
            <a:pathLst>
              <a:path w="3669551" h="1383555">
                <a:moveTo>
                  <a:pt x="0" y="0"/>
                </a:moveTo>
                <a:lnTo>
                  <a:pt x="3669551" y="0"/>
                </a:lnTo>
                <a:lnTo>
                  <a:pt x="3669551" y="1383554"/>
                </a:lnTo>
                <a:lnTo>
                  <a:pt x="0" y="1383554"/>
                </a:lnTo>
                <a:lnTo>
                  <a:pt x="0" y="0"/>
                </a:lnTo>
                <a:close/>
              </a:path>
            </a:pathLst>
          </a:custGeom>
          <a:blipFill>
            <a:blip r:embed="rId5"/>
            <a:stretch>
              <a:fillRect t="-14378"/>
            </a:stretch>
          </a:blipFill>
        </p:spPr>
        <p:txBody>
          <a:bodyPr/>
          <a:lstStyle/>
          <a:p>
            <a:endParaRPr lang="en-US"/>
          </a:p>
        </p:txBody>
      </p:sp>
      <p:sp>
        <p:nvSpPr>
          <p:cNvPr id="8" name="TextBox 8"/>
          <p:cNvSpPr txBox="1"/>
          <p:nvPr/>
        </p:nvSpPr>
        <p:spPr>
          <a:xfrm>
            <a:off x="3971105" y="1974404"/>
            <a:ext cx="11120106" cy="688974"/>
          </a:xfrm>
          <a:prstGeom prst="rect">
            <a:avLst/>
          </a:prstGeom>
        </p:spPr>
        <p:txBody>
          <a:bodyPr lIns="0" tIns="0" rIns="0" bIns="0" rtlCol="0" anchor="t">
            <a:spAutoFit/>
          </a:bodyPr>
          <a:lstStyle/>
          <a:p>
            <a:pPr algn="ctr">
              <a:lnSpc>
                <a:spcPts val="5600"/>
              </a:lnSpc>
            </a:pPr>
            <a:r>
              <a:rPr lang="en-US" sz="4000" b="1">
                <a:solidFill>
                  <a:srgbClr val="FF914D"/>
                </a:solidFill>
                <a:latin typeface="Open Sans 2 Bold"/>
                <a:ea typeface="Open Sans 2 Bold"/>
                <a:cs typeface="Open Sans 2 Bold"/>
                <a:sym typeface="Open Sans 2 Bold"/>
              </a:rPr>
              <a:t>Conclusion(what we’ve learned)</a:t>
            </a:r>
          </a:p>
        </p:txBody>
      </p:sp>
      <p:sp>
        <p:nvSpPr>
          <p:cNvPr id="9" name="TextBox 9"/>
          <p:cNvSpPr txBox="1"/>
          <p:nvPr/>
        </p:nvSpPr>
        <p:spPr>
          <a:xfrm>
            <a:off x="2528720" y="3488797"/>
            <a:ext cx="13752226" cy="4168159"/>
          </a:xfrm>
          <a:prstGeom prst="rect">
            <a:avLst/>
          </a:prstGeom>
        </p:spPr>
        <p:txBody>
          <a:bodyPr lIns="0" tIns="0" rIns="0" bIns="0" rtlCol="0" anchor="t">
            <a:spAutoFit/>
          </a:bodyPr>
          <a:lstStyle/>
          <a:p>
            <a:pPr marL="517995" lvl="1" indent="-258997" algn="ctr">
              <a:lnSpc>
                <a:spcPts val="3358"/>
              </a:lnSpc>
              <a:buFont typeface="Arial"/>
              <a:buChar char="•"/>
            </a:pPr>
            <a:r>
              <a:rPr lang="en-US" sz="2399" b="1">
                <a:solidFill>
                  <a:srgbClr val="FF914D"/>
                </a:solidFill>
                <a:latin typeface="Open Sans 1 Bold"/>
                <a:ea typeface="Open Sans 1 Bold"/>
                <a:cs typeface="Open Sans 1 Bold"/>
                <a:sym typeface="Open Sans 1 Bold"/>
              </a:rPr>
              <a:t>Through our project that integrated AI with a drone, we learned how modern technologies can solve real-world problems like parking management.</a:t>
            </a:r>
          </a:p>
          <a:p>
            <a:pPr algn="ctr">
              <a:lnSpc>
                <a:spcPts val="3358"/>
              </a:lnSpc>
            </a:pPr>
            <a:endParaRPr lang="en-US" sz="2399" b="1">
              <a:solidFill>
                <a:srgbClr val="FF914D"/>
              </a:solidFill>
              <a:latin typeface="Open Sans 1 Bold"/>
              <a:ea typeface="Open Sans 1 Bold"/>
              <a:cs typeface="Open Sans 1 Bold"/>
              <a:sym typeface="Open Sans 1 Bold"/>
            </a:endParaRPr>
          </a:p>
          <a:p>
            <a:pPr marL="517995" lvl="1" indent="-258997" algn="ctr">
              <a:lnSpc>
                <a:spcPts val="3358"/>
              </a:lnSpc>
              <a:buFont typeface="Arial"/>
              <a:buChar char="•"/>
            </a:pPr>
            <a:r>
              <a:rPr lang="en-US" sz="2399" b="1">
                <a:solidFill>
                  <a:srgbClr val="FF914D"/>
                </a:solidFill>
                <a:latin typeface="Open Sans 1 Bold"/>
                <a:ea typeface="Open Sans 1 Bold"/>
                <a:cs typeface="Open Sans 1 Bold"/>
                <a:sym typeface="Open Sans 1 Bold"/>
              </a:rPr>
              <a:t> We used Object Detection and CNN techniques to accurately detect whether a parking spot is “Occupied” or “Empty”.</a:t>
            </a:r>
          </a:p>
          <a:p>
            <a:pPr algn="ctr">
              <a:lnSpc>
                <a:spcPts val="3358"/>
              </a:lnSpc>
            </a:pPr>
            <a:endParaRPr lang="en-US" sz="2399" b="1">
              <a:solidFill>
                <a:srgbClr val="FF914D"/>
              </a:solidFill>
              <a:latin typeface="Open Sans 1 Bold"/>
              <a:ea typeface="Open Sans 1 Bold"/>
              <a:cs typeface="Open Sans 1 Bold"/>
              <a:sym typeface="Open Sans 1 Bold"/>
            </a:endParaRPr>
          </a:p>
          <a:p>
            <a:pPr marL="517995" lvl="1" indent="-258997" algn="ctr">
              <a:lnSpc>
                <a:spcPts val="3358"/>
              </a:lnSpc>
              <a:buFont typeface="Arial"/>
              <a:buChar char="•"/>
            </a:pPr>
            <a:r>
              <a:rPr lang="en-US" sz="2399">
                <a:solidFill>
                  <a:srgbClr val="FF914D"/>
                </a:solidFill>
                <a:latin typeface="Open Sans 1"/>
                <a:ea typeface="Open Sans 1"/>
                <a:cs typeface="Open Sans 1"/>
                <a:sym typeface="Open Sans 1"/>
              </a:rPr>
              <a:t> </a:t>
            </a:r>
            <a:r>
              <a:rPr lang="en-US" sz="2399" b="1">
                <a:solidFill>
                  <a:srgbClr val="FF914D"/>
                </a:solidFill>
                <a:latin typeface="Open Sans 1 Bold"/>
                <a:ea typeface="Open Sans 1 Bold"/>
                <a:cs typeface="Open Sans 1 Bold"/>
                <a:sym typeface="Open Sans 1 Bold"/>
              </a:rPr>
              <a:t>We realized that smart selection of data is more important than quantity or diversity.</a:t>
            </a:r>
          </a:p>
          <a:p>
            <a:pPr algn="ctr">
              <a:lnSpc>
                <a:spcPts val="3358"/>
              </a:lnSpc>
            </a:pPr>
            <a:endParaRPr lang="en-US" sz="2399" b="1">
              <a:solidFill>
                <a:srgbClr val="FF914D"/>
              </a:solidFill>
              <a:latin typeface="Open Sans 1 Bold"/>
              <a:ea typeface="Open Sans 1 Bold"/>
              <a:cs typeface="Open Sans 1 Bold"/>
              <a:sym typeface="Open Sans 1 Bold"/>
            </a:endParaRPr>
          </a:p>
          <a:p>
            <a:pPr marL="517995" lvl="1" indent="-258997" algn="ctr">
              <a:lnSpc>
                <a:spcPts val="3358"/>
              </a:lnSpc>
              <a:buFont typeface="Arial"/>
              <a:buChar char="•"/>
            </a:pPr>
            <a:r>
              <a:rPr lang="en-US" sz="2399">
                <a:solidFill>
                  <a:srgbClr val="FF914D"/>
                </a:solidFill>
                <a:latin typeface="Open Sans 1"/>
                <a:ea typeface="Open Sans 1"/>
                <a:cs typeface="Open Sans 1"/>
                <a:sym typeface="Open Sans 1"/>
              </a:rPr>
              <a:t>  </a:t>
            </a:r>
            <a:r>
              <a:rPr lang="en-US" sz="2399" b="1">
                <a:solidFill>
                  <a:srgbClr val="FF914D"/>
                </a:solidFill>
                <a:latin typeface="Open Sans 1 Bold"/>
                <a:ea typeface="Open Sans 1 Bold"/>
                <a:cs typeface="Open Sans 1 Bold"/>
                <a:sym typeface="Open Sans 1 Bold"/>
              </a:rPr>
              <a:t>More data doesn’t always mean better accuracy — sometimes, data collected from the actual target environment is the real key to a successful model.</a:t>
            </a:r>
          </a:p>
        </p:txBody>
      </p:sp>
      <p:sp>
        <p:nvSpPr>
          <p:cNvPr id="10" name="Freeform 10"/>
          <p:cNvSpPr/>
          <p:nvPr/>
        </p:nvSpPr>
        <p:spPr>
          <a:xfrm flipH="1">
            <a:off x="15167113" y="6172200"/>
            <a:ext cx="3120887" cy="4114800"/>
          </a:xfrm>
          <a:custGeom>
            <a:avLst/>
            <a:gdLst/>
            <a:ahLst/>
            <a:cxnLst/>
            <a:rect l="l" t="t" r="r" b="b"/>
            <a:pathLst>
              <a:path w="3120887" h="4114800">
                <a:moveTo>
                  <a:pt x="3120887" y="0"/>
                </a:moveTo>
                <a:lnTo>
                  <a:pt x="0" y="0"/>
                </a:lnTo>
                <a:lnTo>
                  <a:pt x="0" y="4114800"/>
                </a:lnTo>
                <a:lnTo>
                  <a:pt x="3120887" y="4114800"/>
                </a:lnTo>
                <a:lnTo>
                  <a:pt x="3120887"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1" name="Freeform 11"/>
          <p:cNvSpPr/>
          <p:nvPr/>
        </p:nvSpPr>
        <p:spPr>
          <a:xfrm>
            <a:off x="15518349" y="1717429"/>
            <a:ext cx="1869751" cy="1575063"/>
          </a:xfrm>
          <a:custGeom>
            <a:avLst/>
            <a:gdLst/>
            <a:ahLst/>
            <a:cxnLst/>
            <a:rect l="l" t="t" r="r" b="b"/>
            <a:pathLst>
              <a:path w="1869751" h="1575063">
                <a:moveTo>
                  <a:pt x="0" y="0"/>
                </a:moveTo>
                <a:lnTo>
                  <a:pt x="1869751" y="0"/>
                </a:lnTo>
                <a:lnTo>
                  <a:pt x="1869751" y="1575063"/>
                </a:lnTo>
                <a:lnTo>
                  <a:pt x="0" y="1575063"/>
                </a:lnTo>
                <a:lnTo>
                  <a:pt x="0" y="0"/>
                </a:lnTo>
                <a:close/>
              </a:path>
            </a:pathLst>
          </a:custGeom>
          <a:blipFill>
            <a:blip r:embed="rId8"/>
            <a:stretch>
              <a:fillRect t="-7429" b="-11280"/>
            </a:stretch>
          </a:blipFill>
        </p:spPr>
        <p:txBody>
          <a:bodyPr/>
          <a:lstStyle/>
          <a:p>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6172200"/>
            <a:ext cx="3186913" cy="4114800"/>
          </a:xfrm>
          <a:custGeom>
            <a:avLst/>
            <a:gdLst/>
            <a:ahLst/>
            <a:cxnLst/>
            <a:rect l="l" t="t" r="r" b="b"/>
            <a:pathLst>
              <a:path w="3186913" h="4114800">
                <a:moveTo>
                  <a:pt x="3186913" y="0"/>
                </a:moveTo>
                <a:lnTo>
                  <a:pt x="0" y="0"/>
                </a:lnTo>
                <a:lnTo>
                  <a:pt x="0" y="4114800"/>
                </a:lnTo>
                <a:lnTo>
                  <a:pt x="3186913" y="4114800"/>
                </a:lnTo>
                <a:lnTo>
                  <a:pt x="3186913"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15101087" y="6172200"/>
            <a:ext cx="3186913" cy="4114800"/>
          </a:xfrm>
          <a:custGeom>
            <a:avLst/>
            <a:gdLst/>
            <a:ahLst/>
            <a:cxnLst/>
            <a:rect l="l" t="t" r="r" b="b"/>
            <a:pathLst>
              <a:path w="3186913" h="4114800">
                <a:moveTo>
                  <a:pt x="0" y="0"/>
                </a:moveTo>
                <a:lnTo>
                  <a:pt x="3186913" y="0"/>
                </a:lnTo>
                <a:lnTo>
                  <a:pt x="3186913"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flipV="1">
            <a:off x="0" y="0"/>
            <a:ext cx="4114800" cy="4114800"/>
          </a:xfrm>
          <a:custGeom>
            <a:avLst/>
            <a:gdLst/>
            <a:ahLst/>
            <a:cxnLst/>
            <a:rect l="l" t="t" r="r" b="b"/>
            <a:pathLst>
              <a:path w="4114800" h="4114800">
                <a:moveTo>
                  <a:pt x="0" y="4114800"/>
                </a:moveTo>
                <a:lnTo>
                  <a:pt x="4114800" y="4114800"/>
                </a:lnTo>
                <a:lnTo>
                  <a:pt x="4114800" y="0"/>
                </a:lnTo>
                <a:lnTo>
                  <a:pt x="0" y="0"/>
                </a:lnTo>
                <a:lnTo>
                  <a:pt x="0" y="411480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5" name="Freeform 5"/>
          <p:cNvSpPr/>
          <p:nvPr/>
        </p:nvSpPr>
        <p:spPr>
          <a:xfrm flipH="1" flipV="1">
            <a:off x="14297484" y="-258036"/>
            <a:ext cx="4114800" cy="4114800"/>
          </a:xfrm>
          <a:custGeom>
            <a:avLst/>
            <a:gdLst/>
            <a:ahLst/>
            <a:cxnLst/>
            <a:rect l="l" t="t" r="r" b="b"/>
            <a:pathLst>
              <a:path w="4114800" h="4114800">
                <a:moveTo>
                  <a:pt x="4114800" y="4114800"/>
                </a:moveTo>
                <a:lnTo>
                  <a:pt x="0" y="4114800"/>
                </a:lnTo>
                <a:lnTo>
                  <a:pt x="0" y="0"/>
                </a:lnTo>
                <a:lnTo>
                  <a:pt x="4114800" y="0"/>
                </a:lnTo>
                <a:lnTo>
                  <a:pt x="4114800" y="411480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6" name="Freeform 6"/>
          <p:cNvSpPr/>
          <p:nvPr/>
        </p:nvSpPr>
        <p:spPr>
          <a:xfrm>
            <a:off x="12579744" y="1361464"/>
            <a:ext cx="3435480" cy="1481551"/>
          </a:xfrm>
          <a:custGeom>
            <a:avLst/>
            <a:gdLst/>
            <a:ahLst/>
            <a:cxnLst/>
            <a:rect l="l" t="t" r="r" b="b"/>
            <a:pathLst>
              <a:path w="3435480" h="1481551">
                <a:moveTo>
                  <a:pt x="0" y="0"/>
                </a:moveTo>
                <a:lnTo>
                  <a:pt x="3435479" y="0"/>
                </a:lnTo>
                <a:lnTo>
                  <a:pt x="3435479" y="1481551"/>
                </a:lnTo>
                <a:lnTo>
                  <a:pt x="0" y="1481551"/>
                </a:lnTo>
                <a:lnTo>
                  <a:pt x="0" y="0"/>
                </a:lnTo>
                <a:close/>
              </a:path>
            </a:pathLst>
          </a:custGeom>
          <a:blipFill>
            <a:blip r:embed="rId8"/>
            <a:stretch>
              <a:fillRect/>
            </a:stretch>
          </a:blipFill>
        </p:spPr>
        <p:txBody>
          <a:bodyPr/>
          <a:lstStyle/>
          <a:p>
            <a:endParaRPr lang="en-US"/>
          </a:p>
        </p:txBody>
      </p:sp>
      <p:sp>
        <p:nvSpPr>
          <p:cNvPr id="7" name="Freeform 7"/>
          <p:cNvSpPr/>
          <p:nvPr/>
        </p:nvSpPr>
        <p:spPr>
          <a:xfrm>
            <a:off x="2706528" y="1361464"/>
            <a:ext cx="3362010" cy="1391872"/>
          </a:xfrm>
          <a:custGeom>
            <a:avLst/>
            <a:gdLst/>
            <a:ahLst/>
            <a:cxnLst/>
            <a:rect l="l" t="t" r="r" b="b"/>
            <a:pathLst>
              <a:path w="3362010" h="1391872">
                <a:moveTo>
                  <a:pt x="0" y="0"/>
                </a:moveTo>
                <a:lnTo>
                  <a:pt x="3362010" y="0"/>
                </a:lnTo>
                <a:lnTo>
                  <a:pt x="3362010" y="1391872"/>
                </a:lnTo>
                <a:lnTo>
                  <a:pt x="0" y="1391872"/>
                </a:lnTo>
                <a:lnTo>
                  <a:pt x="0" y="0"/>
                </a:lnTo>
                <a:close/>
              </a:path>
            </a:pathLst>
          </a:custGeom>
          <a:blipFill>
            <a:blip r:embed="rId9"/>
            <a:stretch>
              <a:fillRect/>
            </a:stretch>
          </a:blipFill>
        </p:spPr>
        <p:txBody>
          <a:bodyPr/>
          <a:lstStyle/>
          <a:p>
            <a:endParaRPr lang="en-US"/>
          </a:p>
        </p:txBody>
      </p:sp>
      <p:sp>
        <p:nvSpPr>
          <p:cNvPr id="8" name="TextBox 8"/>
          <p:cNvSpPr txBox="1"/>
          <p:nvPr/>
        </p:nvSpPr>
        <p:spPr>
          <a:xfrm>
            <a:off x="5803596" y="4932240"/>
            <a:ext cx="7041090" cy="671377"/>
          </a:xfrm>
          <a:prstGeom prst="rect">
            <a:avLst/>
          </a:prstGeom>
        </p:spPr>
        <p:txBody>
          <a:bodyPr lIns="0" tIns="0" rIns="0" bIns="0" rtlCol="0" anchor="t">
            <a:spAutoFit/>
          </a:bodyPr>
          <a:lstStyle/>
          <a:p>
            <a:pPr algn="ctr">
              <a:lnSpc>
                <a:spcPts val="5519"/>
              </a:lnSpc>
              <a:spcBef>
                <a:spcPct val="0"/>
              </a:spcBef>
            </a:pPr>
            <a:r>
              <a:rPr lang="en-US" sz="3942" b="1">
                <a:solidFill>
                  <a:srgbClr val="FE9555"/>
                </a:solidFill>
                <a:latin typeface="Open Sans 1 Bold"/>
                <a:ea typeface="Open Sans 1 Bold"/>
                <a:cs typeface="Open Sans 1 Bold"/>
                <a:sym typeface="Open Sans 1 Bold"/>
              </a:rPr>
              <a:t>Thank You For Listening!</a:t>
            </a:r>
          </a:p>
        </p:txBody>
      </p:sp>
      <p:sp>
        <p:nvSpPr>
          <p:cNvPr id="9" name="Freeform 9"/>
          <p:cNvSpPr/>
          <p:nvPr/>
        </p:nvSpPr>
        <p:spPr>
          <a:xfrm>
            <a:off x="7492392" y="0"/>
            <a:ext cx="3663498" cy="3086100"/>
          </a:xfrm>
          <a:custGeom>
            <a:avLst/>
            <a:gdLst/>
            <a:ahLst/>
            <a:cxnLst/>
            <a:rect l="l" t="t" r="r" b="b"/>
            <a:pathLst>
              <a:path w="3663498" h="3086100">
                <a:moveTo>
                  <a:pt x="0" y="0"/>
                </a:moveTo>
                <a:lnTo>
                  <a:pt x="3663498" y="0"/>
                </a:lnTo>
                <a:lnTo>
                  <a:pt x="3663498" y="3086100"/>
                </a:lnTo>
                <a:lnTo>
                  <a:pt x="0" y="3086100"/>
                </a:lnTo>
                <a:lnTo>
                  <a:pt x="0" y="0"/>
                </a:lnTo>
                <a:close/>
              </a:path>
            </a:pathLst>
          </a:custGeom>
          <a:blipFill>
            <a:blip r:embed="rId10"/>
            <a:stretch>
              <a:fillRect t="-7429" b="-11280"/>
            </a:stretch>
          </a:blipFill>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905</Words>
  <Application>Microsoft Office PowerPoint</Application>
  <PresentationFormat>Custom</PresentationFormat>
  <Paragraphs>100</Paragraphs>
  <Slides>14</Slides>
  <Notes>0</Notes>
  <HiddenSlides>0</HiddenSlides>
  <MMClips>1</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Open Sans 1</vt:lpstr>
      <vt:lpstr>Open Sans 2 Bold</vt:lpstr>
      <vt:lpstr>Open Sans 2</vt:lpstr>
      <vt:lpstr>Arial</vt:lpstr>
      <vt:lpstr>Calibri</vt:lpstr>
      <vt:lpstr>Open Sans 1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Gray Black Simple Shapes Geometric Group Project Presentation</dc:title>
  <cp:lastModifiedBy>AAA 1</cp:lastModifiedBy>
  <cp:revision>2</cp:revision>
  <dcterms:created xsi:type="dcterms:W3CDTF">2006-08-16T00:00:00Z</dcterms:created>
  <dcterms:modified xsi:type="dcterms:W3CDTF">2025-06-27T18:58:48Z</dcterms:modified>
  <dc:identifier>DAGrY1mKV-U</dc:identifier>
</cp:coreProperties>
</file>